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295" r:id="rId6"/>
    <p:sldId id="334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4" r:id="rId15"/>
    <p:sldId id="346" r:id="rId16"/>
    <p:sldId id="345" r:id="rId17"/>
    <p:sldId id="347" r:id="rId18"/>
    <p:sldId id="348" r:id="rId19"/>
    <p:sldId id="349" r:id="rId20"/>
    <p:sldId id="350" r:id="rId21"/>
    <p:sldId id="351" r:id="rId22"/>
    <p:sldId id="352" r:id="rId23"/>
    <p:sldId id="354" r:id="rId24"/>
    <p:sldId id="353" r:id="rId25"/>
    <p:sldId id="355" r:id="rId26"/>
    <p:sldId id="335" r:id="rId27"/>
    <p:sldId id="303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123" d="100"/>
          <a:sy n="123" d="100"/>
        </p:scale>
        <p:origin x="114" y="258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svg"/><Relationship Id="rId18" Type="http://schemas.openxmlformats.org/officeDocument/2006/relationships/image" Target="../media/image32.png"/><Relationship Id="rId3" Type="http://schemas.openxmlformats.org/officeDocument/2006/relationships/image" Target="../media/image2.svg"/><Relationship Id="rId21" Type="http://schemas.openxmlformats.org/officeDocument/2006/relationships/image" Target="../media/image35.svg"/><Relationship Id="rId7" Type="http://schemas.openxmlformats.org/officeDocument/2006/relationships/image" Target="../media/image21.svg"/><Relationship Id="rId12" Type="http://schemas.openxmlformats.org/officeDocument/2006/relationships/image" Target="../media/image26.png"/><Relationship Id="rId17" Type="http://schemas.openxmlformats.org/officeDocument/2006/relationships/image" Target="../media/image31.svg"/><Relationship Id="rId25" Type="http://schemas.openxmlformats.org/officeDocument/2006/relationships/image" Target="../media/image39.svg"/><Relationship Id="rId2" Type="http://schemas.openxmlformats.org/officeDocument/2006/relationships/image" Target="../media/image1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11" Type="http://schemas.openxmlformats.org/officeDocument/2006/relationships/image" Target="../media/image25.svg"/><Relationship Id="rId24" Type="http://schemas.openxmlformats.org/officeDocument/2006/relationships/image" Target="../media/image38.png"/><Relationship Id="rId5" Type="http://schemas.openxmlformats.org/officeDocument/2006/relationships/image" Target="../media/image19.svg"/><Relationship Id="rId15" Type="http://schemas.openxmlformats.org/officeDocument/2006/relationships/image" Target="../media/image29.svg"/><Relationship Id="rId23" Type="http://schemas.openxmlformats.org/officeDocument/2006/relationships/image" Target="../media/image37.svg"/><Relationship Id="rId10" Type="http://schemas.openxmlformats.org/officeDocument/2006/relationships/image" Target="../media/image24.png"/><Relationship Id="rId19" Type="http://schemas.openxmlformats.org/officeDocument/2006/relationships/image" Target="../media/image33.svg"/><Relationship Id="rId4" Type="http://schemas.openxmlformats.org/officeDocument/2006/relationships/image" Target="../media/image18.png"/><Relationship Id="rId9" Type="http://schemas.openxmlformats.org/officeDocument/2006/relationships/image" Target="../media/image23.sv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4.svg"/><Relationship Id="rId3" Type="http://schemas.openxmlformats.org/officeDocument/2006/relationships/image" Target="../media/image1.png"/><Relationship Id="rId21" Type="http://schemas.openxmlformats.org/officeDocument/2006/relationships/image" Target="../media/image7.sv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" Type="http://schemas.openxmlformats.org/officeDocument/2006/relationships/image" Target="../media/image40.png"/><Relationship Id="rId16" Type="http://schemas.openxmlformats.org/officeDocument/2006/relationships/image" Target="../media/image52.sv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svg"/><Relationship Id="rId19" Type="http://schemas.openxmlformats.org/officeDocument/2006/relationships/image" Target="../media/image5.png"/><Relationship Id="rId4" Type="http://schemas.openxmlformats.org/officeDocument/2006/relationships/image" Target="../media/image2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13" Type="http://schemas.openxmlformats.org/officeDocument/2006/relationships/image" Target="../media/image44.svg"/><Relationship Id="rId18" Type="http://schemas.openxmlformats.org/officeDocument/2006/relationships/image" Target="../media/image63.png"/><Relationship Id="rId3" Type="http://schemas.openxmlformats.org/officeDocument/2006/relationships/image" Target="../media/image56.svg"/><Relationship Id="rId7" Type="http://schemas.openxmlformats.org/officeDocument/2006/relationships/image" Target="../media/image57.png"/><Relationship Id="rId12" Type="http://schemas.openxmlformats.org/officeDocument/2006/relationships/image" Target="../media/image43.png"/><Relationship Id="rId17" Type="http://schemas.openxmlformats.org/officeDocument/2006/relationships/image" Target="../media/image62.svg"/><Relationship Id="rId2" Type="http://schemas.openxmlformats.org/officeDocument/2006/relationships/image" Target="../media/image55.png"/><Relationship Id="rId16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svg"/><Relationship Id="rId11" Type="http://schemas.openxmlformats.org/officeDocument/2006/relationships/image" Target="../media/image7.svg"/><Relationship Id="rId5" Type="http://schemas.openxmlformats.org/officeDocument/2006/relationships/image" Target="../media/image41.png"/><Relationship Id="rId15" Type="http://schemas.openxmlformats.org/officeDocument/2006/relationships/image" Target="../media/image60.svg"/><Relationship Id="rId10" Type="http://schemas.openxmlformats.org/officeDocument/2006/relationships/image" Target="../media/image6.png"/><Relationship Id="rId19" Type="http://schemas.openxmlformats.org/officeDocument/2006/relationships/image" Target="../media/image64.svg"/><Relationship Id="rId4" Type="http://schemas.openxmlformats.org/officeDocument/2006/relationships/image" Target="../media/image40.png"/><Relationship Id="rId9" Type="http://schemas.openxmlformats.org/officeDocument/2006/relationships/image" Target="../media/image5.png"/><Relationship Id="rId14" Type="http://schemas.openxmlformats.org/officeDocument/2006/relationships/image" Target="../media/image5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69.svg"/><Relationship Id="rId3" Type="http://schemas.openxmlformats.org/officeDocument/2006/relationships/image" Target="../media/image56.svg"/><Relationship Id="rId7" Type="http://schemas.openxmlformats.org/officeDocument/2006/relationships/image" Target="../media/image67.svg"/><Relationship Id="rId12" Type="http://schemas.openxmlformats.org/officeDocument/2006/relationships/image" Target="../media/image68.png"/><Relationship Id="rId17" Type="http://schemas.openxmlformats.org/officeDocument/2006/relationships/image" Target="../media/image73.svg"/><Relationship Id="rId2" Type="http://schemas.openxmlformats.org/officeDocument/2006/relationships/image" Target="../media/image55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png"/><Relationship Id="rId11" Type="http://schemas.openxmlformats.org/officeDocument/2006/relationships/image" Target="../media/image7.svg"/><Relationship Id="rId5" Type="http://schemas.openxmlformats.org/officeDocument/2006/relationships/image" Target="../media/image66.svg"/><Relationship Id="rId15" Type="http://schemas.openxmlformats.org/officeDocument/2006/relationships/image" Target="../media/image71.svg"/><Relationship Id="rId10" Type="http://schemas.openxmlformats.org/officeDocument/2006/relationships/image" Target="../media/image6.png"/><Relationship Id="rId4" Type="http://schemas.openxmlformats.org/officeDocument/2006/relationships/image" Target="../media/image65.png"/><Relationship Id="rId9" Type="http://schemas.openxmlformats.org/officeDocument/2006/relationships/image" Target="../media/image5.png"/><Relationship Id="rId14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7" Type="http://schemas.openxmlformats.org/officeDocument/2006/relationships/image" Target="../media/image7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9.png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7" Type="http://schemas.openxmlformats.org/officeDocument/2006/relationships/image" Target="../media/image7.sv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7.svg"/><Relationship Id="rId3" Type="http://schemas.openxmlformats.org/officeDocument/2006/relationships/image" Target="../media/image56.svg"/><Relationship Id="rId7" Type="http://schemas.openxmlformats.org/officeDocument/2006/relationships/image" Target="../media/image123.svg"/><Relationship Id="rId12" Type="http://schemas.openxmlformats.org/officeDocument/2006/relationships/image" Target="../media/image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5.png"/><Relationship Id="rId5" Type="http://schemas.openxmlformats.org/officeDocument/2006/relationships/image" Target="../media/image121.svg"/><Relationship Id="rId10" Type="http://schemas.openxmlformats.org/officeDocument/2006/relationships/image" Target="../media/image125.svg"/><Relationship Id="rId4" Type="http://schemas.openxmlformats.org/officeDocument/2006/relationships/image" Target="../media/image120.png"/><Relationship Id="rId9" Type="http://schemas.openxmlformats.org/officeDocument/2006/relationships/image" Target="../media/image1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34077" y="1370504"/>
            <a:ext cx="5158567" cy="1720525"/>
            <a:chOff x="6734077" y="1370504"/>
            <a:chExt cx="5158567" cy="172052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9" y="1370504"/>
              <a:ext cx="26293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34077" y="1736812"/>
              <a:ext cx="5158567" cy="135421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AEZEN </a:t>
              </a:r>
              <a:r>
                <a:rPr lang="ko-KR" altLang="en-US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일반인</a:t>
              </a:r>
              <a:endParaRPr lang="en-US" altLang="ko-KR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EZEN </a:t>
              </a:r>
              <a:r>
                <a:rPr lang="ko-KR" altLang="en-US" sz="4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개발자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764" y="6027409"/>
            <a:ext cx="2680001" cy="375740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325" y="2615573"/>
            <a:ext cx="3935463" cy="4308106"/>
            <a:chOff x="1277325" y="2007854"/>
            <a:chExt cx="4490615" cy="4915825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399437" y="2007854"/>
              <a:ext cx="869869" cy="1517209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694275" y="2486388"/>
              <a:ext cx="409589" cy="11736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869326" y="2654289"/>
              <a:ext cx="346934" cy="509420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930252" y="2911762"/>
              <a:ext cx="227778" cy="106897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751239" y="2385236"/>
              <a:ext cx="130142" cy="200121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935483" y="2779644"/>
              <a:ext cx="332646" cy="131363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761149" y="2243807"/>
              <a:ext cx="964871" cy="1405376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5117025" y="2668734"/>
              <a:ext cx="297244" cy="452344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256178" y="3096686"/>
              <a:ext cx="1954614" cy="2421561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853820" y="2140666"/>
              <a:ext cx="1165484" cy="109106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256200" y="2450049"/>
              <a:ext cx="878287" cy="1024997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826690" y="2545507"/>
              <a:ext cx="192761" cy="10141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3069324" y="2705091"/>
              <a:ext cx="71309" cy="205147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391100" y="2698372"/>
              <a:ext cx="252379" cy="237052"/>
              <a:chOff x="2391100" y="2698372"/>
              <a:chExt cx="252379" cy="237052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391100" y="2698372"/>
                <a:ext cx="252379" cy="237052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426626" y="2720269"/>
                <a:ext cx="155504" cy="73160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757573" y="3251676"/>
              <a:ext cx="149229" cy="59314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961364" y="2868949"/>
              <a:ext cx="150128" cy="129424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325" y="3260996"/>
              <a:ext cx="4490615" cy="3662683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892804" y="3484975"/>
              <a:ext cx="1487705" cy="96048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4328758" y="4393594"/>
              <a:ext cx="206298" cy="78503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3151249" y="4916128"/>
              <a:ext cx="845506" cy="684799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765605" y="2745874"/>
              <a:ext cx="173751" cy="173751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742589" y="2179680"/>
              <a:ext cx="540646" cy="540646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111150" y="3334883"/>
              <a:ext cx="1007652" cy="225577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5091293" y="2675423"/>
              <a:ext cx="303279" cy="424648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5179146" y="2869048"/>
              <a:ext cx="102912" cy="111752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965477" y="3339616"/>
              <a:ext cx="157284" cy="157284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5467837" y="3475970"/>
              <a:ext cx="157284" cy="157284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938797" y="2667673"/>
              <a:ext cx="51444" cy="67526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912136" y="4177943"/>
            <a:ext cx="5196532" cy="1123265"/>
            <a:chOff x="6768048" y="3882051"/>
            <a:chExt cx="5196532" cy="1123265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06013" y="4028125"/>
              <a:ext cx="5158567" cy="97719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B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정원형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정지인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문진홍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9FD4E88D-B020-4750-822B-34E94FB9C2D3}"/>
              </a:ext>
            </a:extLst>
          </p:cNvPr>
          <p:cNvSpPr txBox="1"/>
          <p:nvPr/>
        </p:nvSpPr>
        <p:spPr>
          <a:xfrm>
            <a:off x="6743456" y="3128191"/>
            <a:ext cx="5158567" cy="98488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사용자 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지능형 커뮤니티 서비스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16453108" cy="9254873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76598" y="5136731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1818"/>
          <a:stretch/>
        </p:blipFill>
        <p:spPr>
          <a:xfrm>
            <a:off x="45945" y="3370103"/>
            <a:ext cx="3592516" cy="344619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66930" cy="1224702"/>
            <a:chOff x="870882" y="519237"/>
            <a:chExt cx="2266930" cy="122470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600" y="912942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5255150" cy="789154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4776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8" y="3175385"/>
            <a:ext cx="4701761" cy="789154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948861" cy="789154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50335" cy="789154"/>
            <a:chOff x="6242109" y="4773997"/>
            <a:chExt cx="3256573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7013793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2" y="3164584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5" y="5443343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3" y="4903197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0" y="3261891"/>
            <a:ext cx="2914927" cy="2847758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672484" y="2240918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3" y="2373418"/>
            <a:ext cx="2122307" cy="3803725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1899" y="2373418"/>
            <a:ext cx="2122308" cy="3803725"/>
            <a:chOff x="501797" y="2373418"/>
            <a:chExt cx="2122308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2803836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316C95-1060-3E2B-12CF-65A95B12E668}"/>
                </a:ext>
              </a:extLst>
            </p:cNvPr>
            <p:cNvSpPr txBox="1"/>
            <p:nvPr/>
          </p:nvSpPr>
          <p:spPr>
            <a:xfrm>
              <a:off x="501797" y="4149080"/>
              <a:ext cx="2122307" cy="17681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 IT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개발자 커뮤니티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컨셉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실시간 참여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(SNS)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지능형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=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어젠 일반인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→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이젠 개발자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개발실력 향상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+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OTF Regular" panose="00000500000000000000" pitchFamily="50" charset="-127"/>
                  <a:ea typeface="세방고딕 OTF Regular" panose="00000500000000000000" pitchFamily="50" charset="-127"/>
                </a:rPr>
                <a:t>재미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11B0875-3DFC-7826-A161-D12F6A206631}"/>
                </a:ext>
              </a:extLst>
            </p:cNvPr>
            <p:cNvCxnSpPr>
              <a:cxnSpLocks/>
            </p:cNvCxnSpPr>
            <p:nvPr/>
          </p:nvCxnSpPr>
          <p:spPr>
            <a:xfrm>
              <a:off x="1458728" y="4041068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74271" y="2373418"/>
            <a:ext cx="2122307" cy="3803725"/>
            <a:chOff x="2784169" y="2373418"/>
            <a:chExt cx="2122307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84169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2888940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73245428-5F16-23A3-826B-B1AC2BF87895}"/>
                </a:ext>
              </a:extLst>
            </p:cNvPr>
            <p:cNvCxnSpPr>
              <a:cxnSpLocks/>
            </p:cNvCxnSpPr>
            <p:nvPr/>
          </p:nvCxnSpPr>
          <p:spPr>
            <a:xfrm>
              <a:off x="3741100" y="4005064"/>
              <a:ext cx="208445" cy="0"/>
            </a:xfrm>
            <a:prstGeom prst="line">
              <a:avLst/>
            </a:prstGeom>
            <a:ln w="19050">
              <a:solidFill>
                <a:srgbClr val="FFD8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2" y="2373418"/>
            <a:ext cx="2122307" cy="3803725"/>
            <a:chOff x="5066540" y="2373418"/>
            <a:chExt cx="2122307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F374B2A9-7830-9D16-5469-6D770935621E}"/>
                </a:ext>
              </a:extLst>
            </p:cNvPr>
            <p:cNvCxnSpPr>
              <a:cxnSpLocks/>
            </p:cNvCxnSpPr>
            <p:nvPr/>
          </p:nvCxnSpPr>
          <p:spPr>
            <a:xfrm>
              <a:off x="6021203" y="4005064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5" y="2373418"/>
            <a:ext cx="2122307" cy="3803725"/>
            <a:chOff x="9631283" y="2373418"/>
            <a:chExt cx="2122307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2909438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활용방안 및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기대 효과</a:t>
              </a: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FC2AFA84-BAD4-C827-E0E3-CE251C052D01}"/>
                </a:ext>
              </a:extLst>
            </p:cNvPr>
            <p:cNvCxnSpPr>
              <a:cxnSpLocks/>
            </p:cNvCxnSpPr>
            <p:nvPr/>
          </p:nvCxnSpPr>
          <p:spPr>
            <a:xfrm>
              <a:off x="10583679" y="3969060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28" name="_x278651016" descr="EMB0000378c3f3d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27E62E5A-58D4-4E3F-BA25-E9AAAFA8B482}"/>
              </a:ext>
            </a:extLst>
          </p:cNvPr>
          <p:cNvSpPr txBox="1"/>
          <p:nvPr/>
        </p:nvSpPr>
        <p:spPr>
          <a:xfrm>
            <a:off x="2786185" y="4149080"/>
            <a:ext cx="2122307" cy="1786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사용자 활동로그 기반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-</a:t>
            </a: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맞춤 광고 노출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관심 키워드 자가체크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게시글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실시간 태그추천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채팅 대화주제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6A31C54-8EDD-49F6-A07C-224EFB11BE99}"/>
              </a:ext>
            </a:extLst>
          </p:cNvPr>
          <p:cNvSpPr txBox="1"/>
          <p:nvPr/>
        </p:nvSpPr>
        <p:spPr>
          <a:xfrm>
            <a:off x="5265675" y="2852936"/>
            <a:ext cx="1704241" cy="735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개발환경 및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개발도구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FF5D14-CEA6-430C-ABBC-A7E81264CCC7}"/>
              </a:ext>
            </a:extLst>
          </p:cNvPr>
          <p:cNvSpPr txBox="1"/>
          <p:nvPr/>
        </p:nvSpPr>
        <p:spPr>
          <a:xfrm>
            <a:off x="5039987" y="4113076"/>
            <a:ext cx="2122307" cy="2005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개발환경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windows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Python 3.12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Mysql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5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en-US" altLang="ko-KR" sz="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개발도구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Visual Studio Code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Git, </a:t>
            </a: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Github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DBeaver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7013A14-11EC-4A80-B443-1E451C2C070F}"/>
              </a:ext>
            </a:extLst>
          </p:cNvPr>
          <p:cNvSpPr txBox="1"/>
          <p:nvPr/>
        </p:nvSpPr>
        <p:spPr>
          <a:xfrm>
            <a:off x="7522578" y="2852936"/>
            <a:ext cx="1704241" cy="735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개발기술 및 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FFC000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언어</a:t>
            </a:r>
            <a:endParaRPr lang="en-US" altLang="ko-KR" sz="19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FFC000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3D69C9EB-B25D-4CA4-9BDA-7DE8BE0DE4B4}"/>
              </a:ext>
            </a:extLst>
          </p:cNvPr>
          <p:cNvCxnSpPr>
            <a:cxnSpLocks/>
          </p:cNvCxnSpPr>
          <p:nvPr/>
        </p:nvCxnSpPr>
        <p:spPr>
          <a:xfrm>
            <a:off x="8316839" y="4005064"/>
            <a:ext cx="208445" cy="0"/>
          </a:xfrm>
          <a:prstGeom prst="line">
            <a:avLst/>
          </a:prstGeom>
          <a:ln w="19050">
            <a:solidFill>
              <a:srgbClr val="FFD8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D945B39A-F430-487B-989B-BB2B074FF115}"/>
              </a:ext>
            </a:extLst>
          </p:cNvPr>
          <p:cNvSpPr txBox="1"/>
          <p:nvPr/>
        </p:nvSpPr>
        <p:spPr>
          <a:xfrm>
            <a:off x="7394073" y="4104483"/>
            <a:ext cx="2122307" cy="1802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개발기술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Flask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Flask-</a:t>
            </a: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SocketIO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Bs4, Selenium, sentence-transformers, scikit-learn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5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en-US" altLang="ko-KR" sz="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개발언어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Python</a:t>
            </a: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JavaScript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DB22D56-50D7-4E49-9FD5-B850B47EEBDA}"/>
              </a:ext>
            </a:extLst>
          </p:cNvPr>
          <p:cNvSpPr txBox="1"/>
          <p:nvPr/>
        </p:nvSpPr>
        <p:spPr>
          <a:xfrm>
            <a:off x="9620486" y="4182991"/>
            <a:ext cx="2122307" cy="151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사용자 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DB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고도화 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정밀화 된 맞춤 광고 가능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타겟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(IT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개발자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)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니즈 파악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자체개발 강의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 &amp;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서적 출시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구인</a:t>
            </a: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/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OTF Regular" panose="00000500000000000000" pitchFamily="50" charset="-127"/>
                <a:ea typeface="세방고딕 OTF Regular" panose="00000500000000000000" pitchFamily="50" charset="-127"/>
              </a:rPr>
              <a:t>구직 탭 확장 가능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OTF Regular" panose="00000500000000000000" pitchFamily="50" charset="-127"/>
              <a:ea typeface="세방고딕 OTF Regular" panose="000005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E5DD20A-D98D-477C-D6C5-F50C33B663C9}"/>
              </a:ext>
            </a:extLst>
          </p:cNvPr>
          <p:cNvSpPr/>
          <p:nvPr/>
        </p:nvSpPr>
        <p:spPr>
          <a:xfrm>
            <a:off x="515380" y="2097591"/>
            <a:ext cx="11218265" cy="378909"/>
          </a:xfrm>
          <a:prstGeom prst="roundRect">
            <a:avLst/>
          </a:prstGeom>
          <a:solidFill>
            <a:srgbClr val="3378C8"/>
          </a:solidFill>
          <a:ln>
            <a:noFill/>
          </a:ln>
          <a:effectLst>
            <a:outerShdw dist="38100" dir="2700000" algn="tl" rotWithShape="0">
              <a:srgbClr val="3378C8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409000"/>
              </p:ext>
            </p:extLst>
          </p:nvPr>
        </p:nvGraphicFramePr>
        <p:xfrm>
          <a:off x="524528" y="2721878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3101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8995165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정원형</a:t>
                      </a:r>
                      <a:endParaRPr lang="ko-KR" altLang="en-US" sz="18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정지인</a:t>
                      </a:r>
                      <a:endParaRPr lang="ko-KR" altLang="en-US" sz="18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문진홍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8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박진용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6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4453" y="6126651"/>
            <a:ext cx="109959" cy="109959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5" name="_x278651016" descr="EMB0000378c3f3d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D4C682B0-B182-409B-98BC-CBA1A5AE1950}"/>
              </a:ext>
            </a:extLst>
          </p:cNvPr>
          <p:cNvSpPr/>
          <p:nvPr/>
        </p:nvSpPr>
        <p:spPr>
          <a:xfrm>
            <a:off x="2999656" y="3497592"/>
            <a:ext cx="1584176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F4372EC-A744-4A9F-A83D-372948098465}"/>
              </a:ext>
            </a:extLst>
          </p:cNvPr>
          <p:cNvGrpSpPr/>
          <p:nvPr/>
        </p:nvGrpSpPr>
        <p:grpSpPr>
          <a:xfrm>
            <a:off x="2999656" y="3497592"/>
            <a:ext cx="358635" cy="358635"/>
            <a:chOff x="4525872" y="3492488"/>
            <a:chExt cx="358635" cy="358635"/>
          </a:xfrm>
        </p:grpSpPr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276A4F14-E00E-45FC-88A2-487B0728AC7B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64" name="그래픽 63">
              <a:extLst>
                <a:ext uri="{FF2B5EF4-FFF2-40B4-BE49-F238E27FC236}">
                  <a16:creationId xmlns:a16="http://schemas.microsoft.com/office/drawing/2014/main" id="{57157CD7-8DB9-4DF9-8B87-97E0532E9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5013787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4407" b="11555"/>
          <a:stretch/>
        </p:blipFill>
        <p:spPr>
          <a:xfrm>
            <a:off x="10092346" y="4828596"/>
            <a:ext cx="2099654" cy="1557498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700000">
            <a:off x="11833039" y="5062495"/>
            <a:ext cx="154011" cy="154011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FCB858A7-1A91-D7F1-463B-A7B454AD0CA1}"/>
              </a:ext>
            </a:extLst>
          </p:cNvPr>
          <p:cNvSpPr txBox="1"/>
          <p:nvPr/>
        </p:nvSpPr>
        <p:spPr>
          <a:xfrm>
            <a:off x="3330325" y="3537012"/>
            <a:ext cx="1397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아키텍처 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C7CA7D31-E464-4F60-AAEF-775E0379220D}"/>
              </a:ext>
            </a:extLst>
          </p:cNvPr>
          <p:cNvSpPr/>
          <p:nvPr/>
        </p:nvSpPr>
        <p:spPr>
          <a:xfrm>
            <a:off x="4777690" y="3502413"/>
            <a:ext cx="2470437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8292CD4C-45D0-4647-A421-F0545790CF39}"/>
              </a:ext>
            </a:extLst>
          </p:cNvPr>
          <p:cNvGrpSpPr/>
          <p:nvPr/>
        </p:nvGrpSpPr>
        <p:grpSpPr>
          <a:xfrm>
            <a:off x="4777691" y="3479509"/>
            <a:ext cx="358635" cy="358635"/>
            <a:chOff x="4525872" y="3492488"/>
            <a:chExt cx="358635" cy="358635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0037FB5-78A6-4B16-AA42-9D74D7ACBD7E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74" name="그래픽 73">
              <a:extLst>
                <a:ext uri="{FF2B5EF4-FFF2-40B4-BE49-F238E27FC236}">
                  <a16:creationId xmlns:a16="http://schemas.microsoft.com/office/drawing/2014/main" id="{4AE30EB7-0E52-4CAE-B28C-0D1D7E5B5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925A106D-4B87-4AF2-8F03-8AB4FBCC5BE9}"/>
              </a:ext>
            </a:extLst>
          </p:cNvPr>
          <p:cNvSpPr txBox="1"/>
          <p:nvPr/>
        </p:nvSpPr>
        <p:spPr>
          <a:xfrm>
            <a:off x="5108360" y="3537012"/>
            <a:ext cx="19473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프로젝트 디렉토리 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A4B6F9F-61CF-4818-BB7B-BA2CD61BE087}"/>
              </a:ext>
            </a:extLst>
          </p:cNvPr>
          <p:cNvSpPr/>
          <p:nvPr/>
        </p:nvSpPr>
        <p:spPr>
          <a:xfrm>
            <a:off x="7423397" y="3502413"/>
            <a:ext cx="1557613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DE02A534-0582-41CB-869B-F001CAEAE104}"/>
              </a:ext>
            </a:extLst>
          </p:cNvPr>
          <p:cNvGrpSpPr/>
          <p:nvPr/>
        </p:nvGrpSpPr>
        <p:grpSpPr>
          <a:xfrm>
            <a:off x="7423398" y="3502413"/>
            <a:ext cx="358635" cy="358635"/>
            <a:chOff x="4525872" y="3492488"/>
            <a:chExt cx="358635" cy="358635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3B6946CC-68BE-4011-9748-63B04B85A31E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79" name="그래픽 78">
              <a:extLst>
                <a:ext uri="{FF2B5EF4-FFF2-40B4-BE49-F238E27FC236}">
                  <a16:creationId xmlns:a16="http://schemas.microsoft.com/office/drawing/2014/main" id="{B93633D3-3A28-4219-9B78-40BB1FE75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249EE4B6-FF14-4259-963E-92F9FA9D2E1B}"/>
              </a:ext>
            </a:extLst>
          </p:cNvPr>
          <p:cNvSpPr txBox="1"/>
          <p:nvPr/>
        </p:nvSpPr>
        <p:spPr>
          <a:xfrm>
            <a:off x="7754067" y="3537012"/>
            <a:ext cx="10062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작업 분배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0B028F39-D40B-4FBA-AC02-B301A1DABF8F}"/>
              </a:ext>
            </a:extLst>
          </p:cNvPr>
          <p:cNvSpPr/>
          <p:nvPr/>
        </p:nvSpPr>
        <p:spPr>
          <a:xfrm>
            <a:off x="2999656" y="4234366"/>
            <a:ext cx="1260140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367721B2-EAD1-4670-9B41-B4B53E7CA9F1}"/>
              </a:ext>
            </a:extLst>
          </p:cNvPr>
          <p:cNvGrpSpPr/>
          <p:nvPr/>
        </p:nvGrpSpPr>
        <p:grpSpPr>
          <a:xfrm>
            <a:off x="2999656" y="4234366"/>
            <a:ext cx="358635" cy="358635"/>
            <a:chOff x="4525872" y="3492488"/>
            <a:chExt cx="358635" cy="35863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26AAFB55-29BB-475D-A9CE-71206749FBFA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90" name="그래픽 89">
              <a:extLst>
                <a:ext uri="{FF2B5EF4-FFF2-40B4-BE49-F238E27FC236}">
                  <a16:creationId xmlns:a16="http://schemas.microsoft.com/office/drawing/2014/main" id="{C6B10F05-FCF8-46E7-BB88-4783E1DEB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E561B61B-87CF-42CE-A06E-A2050B3C6C87}"/>
              </a:ext>
            </a:extLst>
          </p:cNvPr>
          <p:cNvSpPr txBox="1"/>
          <p:nvPr/>
        </p:nvSpPr>
        <p:spPr>
          <a:xfrm>
            <a:off x="3330325" y="4273786"/>
            <a:ext cx="10014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설계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8C3B2F9A-9B9E-462E-BAF2-8D5B82B0BFDC}"/>
              </a:ext>
            </a:extLst>
          </p:cNvPr>
          <p:cNvSpPr/>
          <p:nvPr/>
        </p:nvSpPr>
        <p:spPr>
          <a:xfrm>
            <a:off x="4773696" y="4254892"/>
            <a:ext cx="2601010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4E9627D-4DCD-446E-97C1-902642881592}"/>
              </a:ext>
            </a:extLst>
          </p:cNvPr>
          <p:cNvGrpSpPr/>
          <p:nvPr/>
        </p:nvGrpSpPr>
        <p:grpSpPr>
          <a:xfrm>
            <a:off x="4773697" y="4254892"/>
            <a:ext cx="358635" cy="358635"/>
            <a:chOff x="4525872" y="3492488"/>
            <a:chExt cx="358635" cy="358635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C149A7D8-5D59-4E92-98C7-D3A65B01359D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95" name="그래픽 94">
              <a:extLst>
                <a:ext uri="{FF2B5EF4-FFF2-40B4-BE49-F238E27FC236}">
                  <a16:creationId xmlns:a16="http://schemas.microsoft.com/office/drawing/2014/main" id="{0BE9189D-FA6B-4339-8D3D-2796C3620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46BEDD16-D6F0-4AD5-A68F-D6DE06415CF1}"/>
              </a:ext>
            </a:extLst>
          </p:cNvPr>
          <p:cNvSpPr txBox="1"/>
          <p:nvPr/>
        </p:nvSpPr>
        <p:spPr>
          <a:xfrm>
            <a:off x="5104366" y="4294312"/>
            <a:ext cx="22703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데이터 수집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</a:t>
            </a: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전처리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시각화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1767D919-AEBE-4186-B4E0-FBA819FCFAC2}"/>
              </a:ext>
            </a:extLst>
          </p:cNvPr>
          <p:cNvSpPr/>
          <p:nvPr/>
        </p:nvSpPr>
        <p:spPr>
          <a:xfrm>
            <a:off x="7493243" y="4245804"/>
            <a:ext cx="1502039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8EE0C4B2-97BB-4057-98F5-906142B4847A}"/>
              </a:ext>
            </a:extLst>
          </p:cNvPr>
          <p:cNvGrpSpPr/>
          <p:nvPr/>
        </p:nvGrpSpPr>
        <p:grpSpPr>
          <a:xfrm>
            <a:off x="7493244" y="4245804"/>
            <a:ext cx="358635" cy="358635"/>
            <a:chOff x="4525872" y="3492488"/>
            <a:chExt cx="358635" cy="358635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C9B31BF2-8EA0-4390-87B2-163BD839B978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14D93135-C57E-4BC6-90F1-1E7D8A1F30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EF34117C-6EBB-44B6-BAA0-38C2C42305C0}"/>
              </a:ext>
            </a:extLst>
          </p:cNvPr>
          <p:cNvSpPr txBox="1"/>
          <p:nvPr/>
        </p:nvSpPr>
        <p:spPr>
          <a:xfrm>
            <a:off x="7823913" y="4285224"/>
            <a:ext cx="129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백엔드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개발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86CFBC11-60F9-4CBC-B29D-DDB5281AA49D}"/>
              </a:ext>
            </a:extLst>
          </p:cNvPr>
          <p:cNvSpPr/>
          <p:nvPr/>
        </p:nvSpPr>
        <p:spPr>
          <a:xfrm>
            <a:off x="2994647" y="4994219"/>
            <a:ext cx="1260141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765AAB98-B4D8-442F-8FC3-5565D84D120E}"/>
              </a:ext>
            </a:extLst>
          </p:cNvPr>
          <p:cNvGrpSpPr/>
          <p:nvPr/>
        </p:nvGrpSpPr>
        <p:grpSpPr>
          <a:xfrm>
            <a:off x="2994649" y="4994219"/>
            <a:ext cx="358635" cy="358635"/>
            <a:chOff x="4525872" y="3492488"/>
            <a:chExt cx="358635" cy="358635"/>
          </a:xfrm>
        </p:grpSpPr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54DF64B-DE74-4569-8FD3-030C21A11137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11" name="그래픽 110">
              <a:extLst>
                <a:ext uri="{FF2B5EF4-FFF2-40B4-BE49-F238E27FC236}">
                  <a16:creationId xmlns:a16="http://schemas.microsoft.com/office/drawing/2014/main" id="{3199E6F0-5910-43C7-AE60-293E2BF3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54D5405-62D6-40C4-A7D9-4BF8D5074436}"/>
              </a:ext>
            </a:extLst>
          </p:cNvPr>
          <p:cNvSpPr txBox="1"/>
          <p:nvPr/>
        </p:nvSpPr>
        <p:spPr>
          <a:xfrm>
            <a:off x="3325318" y="5033639"/>
            <a:ext cx="7904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설계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00AE8535-2533-4077-AC2D-629EFA59951B}"/>
              </a:ext>
            </a:extLst>
          </p:cNvPr>
          <p:cNvSpPr/>
          <p:nvPr/>
        </p:nvSpPr>
        <p:spPr>
          <a:xfrm>
            <a:off x="4783894" y="5024007"/>
            <a:ext cx="1853591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AD439F32-6CDC-4B33-9F11-2E987217821A}"/>
              </a:ext>
            </a:extLst>
          </p:cNvPr>
          <p:cNvGrpSpPr/>
          <p:nvPr/>
        </p:nvGrpSpPr>
        <p:grpSpPr>
          <a:xfrm>
            <a:off x="4783896" y="5024007"/>
            <a:ext cx="358635" cy="358635"/>
            <a:chOff x="4525872" y="3492488"/>
            <a:chExt cx="358635" cy="358635"/>
          </a:xfrm>
        </p:grpSpPr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3ACA290-984D-4D4E-A906-54C30569E616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0CAC23FC-3CC5-4FC6-A2D3-646878915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24B7E7B2-8FC8-4FDC-B128-2FD58728587C}"/>
              </a:ext>
            </a:extLst>
          </p:cNvPr>
          <p:cNvSpPr txBox="1"/>
          <p:nvPr/>
        </p:nvSpPr>
        <p:spPr>
          <a:xfrm>
            <a:off x="5114565" y="5063427"/>
            <a:ext cx="1096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백엔드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개발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EFBD490C-629D-4B66-9FBF-DF21ADA536D0}"/>
              </a:ext>
            </a:extLst>
          </p:cNvPr>
          <p:cNvSpPr/>
          <p:nvPr/>
        </p:nvSpPr>
        <p:spPr>
          <a:xfrm>
            <a:off x="6894094" y="5030275"/>
            <a:ext cx="1974214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63864A0-E5BA-495F-9EA3-7AA24CCC1E53}"/>
              </a:ext>
            </a:extLst>
          </p:cNvPr>
          <p:cNvGrpSpPr/>
          <p:nvPr/>
        </p:nvGrpSpPr>
        <p:grpSpPr>
          <a:xfrm>
            <a:off x="6894096" y="5030275"/>
            <a:ext cx="358635" cy="358635"/>
            <a:chOff x="4525872" y="3492488"/>
            <a:chExt cx="358635" cy="358635"/>
          </a:xfrm>
        </p:grpSpPr>
        <p:sp>
          <p:nvSpPr>
            <p:cNvPr id="120" name="타원 119">
              <a:extLst>
                <a:ext uri="{FF2B5EF4-FFF2-40B4-BE49-F238E27FC236}">
                  <a16:creationId xmlns:a16="http://schemas.microsoft.com/office/drawing/2014/main" id="{8DD18B4A-4C71-49FD-9A8D-0FAF71CADF31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21" name="그래픽 120">
              <a:extLst>
                <a:ext uri="{FF2B5EF4-FFF2-40B4-BE49-F238E27FC236}">
                  <a16:creationId xmlns:a16="http://schemas.microsoft.com/office/drawing/2014/main" id="{0FB5B6F6-A969-48B1-B15E-7F66F9494F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E8639F2C-312F-46F6-9241-6F43DB2AF8C6}"/>
              </a:ext>
            </a:extLst>
          </p:cNvPr>
          <p:cNvSpPr txBox="1"/>
          <p:nvPr/>
        </p:nvSpPr>
        <p:spPr>
          <a:xfrm>
            <a:off x="7224765" y="5069695"/>
            <a:ext cx="1429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ko-KR" altLang="en-US" sz="140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프론트 엔드 개발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9A70861D-8334-4197-8FF8-8749120DA973}"/>
              </a:ext>
            </a:extLst>
          </p:cNvPr>
          <p:cNvSpPr/>
          <p:nvPr/>
        </p:nvSpPr>
        <p:spPr>
          <a:xfrm>
            <a:off x="2994647" y="5805658"/>
            <a:ext cx="4916132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B463DAC1-D8C8-4708-88CD-AC1B74A63D75}"/>
              </a:ext>
            </a:extLst>
          </p:cNvPr>
          <p:cNvGrpSpPr/>
          <p:nvPr/>
        </p:nvGrpSpPr>
        <p:grpSpPr>
          <a:xfrm>
            <a:off x="2994649" y="5805658"/>
            <a:ext cx="358635" cy="358635"/>
            <a:chOff x="4525872" y="3492488"/>
            <a:chExt cx="358635" cy="358635"/>
          </a:xfrm>
        </p:grpSpPr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879FAF8A-9D26-45A8-A174-9A7241EBCF8F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33" name="그래픽 132">
              <a:extLst>
                <a:ext uri="{FF2B5EF4-FFF2-40B4-BE49-F238E27FC236}">
                  <a16:creationId xmlns:a16="http://schemas.microsoft.com/office/drawing/2014/main" id="{9ABDE73B-DB03-4311-B3BD-7F909A2BCE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E7AE6429-180A-47B2-95ED-96C24B615A72}"/>
              </a:ext>
            </a:extLst>
          </p:cNvPr>
          <p:cNvSpPr txBox="1"/>
          <p:nvPr/>
        </p:nvSpPr>
        <p:spPr>
          <a:xfrm>
            <a:off x="3325317" y="5845078"/>
            <a:ext cx="42985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주제 선정 피드백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, UX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 조언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기능구현 기술 피드백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596" y="5743970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35396"/>
              </p:ext>
            </p:extLst>
          </p:nvPr>
        </p:nvGraphicFramePr>
        <p:xfrm>
          <a:off x="561968" y="1988840"/>
          <a:ext cx="11218265" cy="4692817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825620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993252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495580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1903813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40663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102407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사전 기획</a:t>
                      </a: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11/24(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11/26(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31151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UX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 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 DB 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설계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연결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11/26(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11/28(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AI 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기능 제외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테스트</a:t>
                      </a: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59757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데이터 수집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시각화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12/01(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12/03(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7200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모델링 </a:t>
                      </a:r>
                      <a:r>
                        <a:rPr kumimoji="0" lang="en-US" altLang="ko-KR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/ </a:t>
                      </a: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서비스 구축</a:t>
                      </a: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12/O3(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수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12/O5(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중간발표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6261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최적화 및 오류수정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12/08(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12/19(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6557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11/24(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월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 ~ 12/19(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금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(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총 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4</a:t>
                      </a:r>
                      <a:r>
                        <a:rPr kumimoji="0" lang="ko-KR" altLang="en-US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주</a:t>
                      </a:r>
                      <a:r>
                        <a:rPr kumimoji="0" lang="en-US" altLang="ko-KR" sz="14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b="44800"/>
          <a:stretch/>
        </p:blipFill>
        <p:spPr>
          <a:xfrm rot="16200000">
            <a:off x="11244020" y="5770887"/>
            <a:ext cx="935617" cy="960347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79625" y="5477900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11824" y="2564904"/>
            <a:ext cx="2456768" cy="326913"/>
            <a:chOff x="4574111" y="3307757"/>
            <a:chExt cx="2456768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프로젝트 기획 및 주제 선정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83737" y="2564904"/>
            <a:ext cx="1446165" cy="331473"/>
            <a:chOff x="7383737" y="3307761"/>
            <a:chExt cx="1446165" cy="33147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61"/>
              <a:ext cx="1446165" cy="331473"/>
              <a:chOff x="4665551" y="3307761"/>
              <a:chExt cx="1446165" cy="33147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61"/>
                <a:ext cx="1446165" cy="331473"/>
                <a:chOff x="4665552" y="3307757"/>
                <a:chExt cx="1548052" cy="363637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12759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4961990" y="335479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디렉토리 설계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11824" y="2986998"/>
            <a:ext cx="1790569" cy="326913"/>
            <a:chOff x="4574112" y="3841157"/>
            <a:chExt cx="1790569" cy="326913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2" y="3841157"/>
              <a:ext cx="1790569" cy="326913"/>
              <a:chOff x="4665552" y="3307757"/>
              <a:chExt cx="1790569" cy="326913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50489" cy="326913"/>
                <a:chOff x="4665552" y="3307757"/>
                <a:chExt cx="1873816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73816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4999308" y="3340188"/>
                <a:ext cx="145681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spc="-3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HTML &amp; CSS</a:t>
                </a:r>
                <a:r>
                  <a:rPr lang="ko-KR" altLang="en-US" sz="1200" spc="-3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설계</a:t>
                </a:r>
                <a:endParaRPr lang="en-US" altLang="ko-KR" sz="1200" spc="-3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6499654" y="2979369"/>
            <a:ext cx="2474381" cy="326913"/>
            <a:chOff x="7321633" y="4515450"/>
            <a:chExt cx="2474381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21633" y="4515450"/>
              <a:ext cx="2474381" cy="326913"/>
              <a:chOff x="4603447" y="3982050"/>
              <a:chExt cx="2474381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03447" y="3982050"/>
                <a:ext cx="2474381" cy="326913"/>
                <a:chOff x="4599072" y="4047480"/>
                <a:chExt cx="2648709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599072" y="4047480"/>
                  <a:ext cx="2648709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599072" y="4047480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4956554" y="4014481"/>
                <a:ext cx="188683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공통 기능 및 페이지 모듈화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427949" y="4593883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7048956" y="4252284"/>
            <a:ext cx="2456768" cy="326913"/>
            <a:chOff x="4574111" y="4369794"/>
            <a:chExt cx="245676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11" y="4369794"/>
              <a:ext cx="2456768" cy="326913"/>
              <a:chOff x="4665551" y="3307757"/>
              <a:chExt cx="245676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데이터 분석</a:t>
                </a: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/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시각화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514709" y="4866283"/>
            <a:ext cx="2456768" cy="326913"/>
            <a:chOff x="4574111" y="4896844"/>
            <a:chExt cx="2456768" cy="326913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574111" y="4896844"/>
              <a:ext cx="2456768" cy="326913"/>
              <a:chOff x="4665551" y="3307757"/>
              <a:chExt cx="2456768" cy="326913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609A3379-4631-8276-AF8A-10994CDEF09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0" name="타원 79">
                  <a:extLst>
                    <a:ext uri="{FF2B5EF4-FFF2-40B4-BE49-F238E27FC236}">
                      <a16:creationId xmlns:a16="http://schemas.microsoft.com/office/drawing/2014/main" id="{5E20FC97-1169-EB3D-C18F-8768D8E1244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F4CF284-F5E9-7E56-4BF0-D714FE48825D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모형 구현 및 서비스 구축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F79D55F9-8B33-7828-2890-B15818F01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F7125055-425D-47C7-846F-26C8A9677B9A}"/>
              </a:ext>
            </a:extLst>
          </p:cNvPr>
          <p:cNvGrpSpPr/>
          <p:nvPr/>
        </p:nvGrpSpPr>
        <p:grpSpPr>
          <a:xfrm>
            <a:off x="4523078" y="3573016"/>
            <a:ext cx="1032862" cy="326914"/>
            <a:chOff x="2581919" y="4035619"/>
            <a:chExt cx="1032862" cy="326914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7C16D32-0186-4DFF-BD15-473612AD160C}"/>
                </a:ext>
              </a:extLst>
            </p:cNvPr>
            <p:cNvGrpSpPr/>
            <p:nvPr/>
          </p:nvGrpSpPr>
          <p:grpSpPr>
            <a:xfrm>
              <a:off x="2581919" y="4035619"/>
              <a:ext cx="1032862" cy="326914"/>
              <a:chOff x="2533003" y="4106246"/>
              <a:chExt cx="1105630" cy="358636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96FD0C89-0EEF-4B06-9A8E-C60C85061AB8}"/>
                  </a:ext>
                </a:extLst>
              </p:cNvPr>
              <p:cNvSpPr/>
              <p:nvPr/>
            </p:nvSpPr>
            <p:spPr>
              <a:xfrm>
                <a:off x="2533004" y="4106247"/>
                <a:ext cx="1105629" cy="35863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7D3D2877-522A-4CB7-83D1-8CC1EC64EB3E}"/>
                  </a:ext>
                </a:extLst>
              </p:cNvPr>
              <p:cNvSpPr/>
              <p:nvPr/>
            </p:nvSpPr>
            <p:spPr>
              <a:xfrm>
                <a:off x="2533003" y="4106246"/>
                <a:ext cx="358635" cy="358635"/>
              </a:xfrm>
              <a:prstGeom prst="ellipse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23" name="그래픽 122">
              <a:extLst>
                <a:ext uri="{FF2B5EF4-FFF2-40B4-BE49-F238E27FC236}">
                  <a16:creationId xmlns:a16="http://schemas.microsoft.com/office/drawing/2014/main" id="{98A964CF-2E9A-4010-AD72-6FF17A449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697510" y="4114050"/>
              <a:ext cx="149803" cy="180532"/>
            </a:xfrm>
            <a:prstGeom prst="rect">
              <a:avLst/>
            </a:prstGeom>
          </p:spPr>
        </p:pic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C1031378-3F68-4E12-B627-CB281EE2F1F2}"/>
              </a:ext>
            </a:extLst>
          </p:cNvPr>
          <p:cNvGrpSpPr/>
          <p:nvPr/>
        </p:nvGrpSpPr>
        <p:grpSpPr>
          <a:xfrm>
            <a:off x="5745101" y="3570139"/>
            <a:ext cx="2324617" cy="326913"/>
            <a:chOff x="4574111" y="3307757"/>
            <a:chExt cx="2324617" cy="326913"/>
          </a:xfrm>
        </p:grpSpPr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D85BEF33-8C39-46A6-AAEF-29071F1DF5C1}"/>
                </a:ext>
              </a:extLst>
            </p:cNvPr>
            <p:cNvGrpSpPr/>
            <p:nvPr/>
          </p:nvGrpSpPr>
          <p:grpSpPr>
            <a:xfrm>
              <a:off x="4574111" y="3307757"/>
              <a:ext cx="2324617" cy="326913"/>
              <a:chOff x="4665551" y="3307757"/>
              <a:chExt cx="2324617" cy="326913"/>
            </a:xfrm>
          </p:grpSpPr>
          <p:grpSp>
            <p:nvGrpSpPr>
              <p:cNvPr id="131" name="그룹 130">
                <a:extLst>
                  <a:ext uri="{FF2B5EF4-FFF2-40B4-BE49-F238E27FC236}">
                    <a16:creationId xmlns:a16="http://schemas.microsoft.com/office/drawing/2014/main" id="{1A1C1033-6D5E-4DE0-BF70-7B8225778A4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094951" cy="326913"/>
                <a:chOff x="4665552" y="3307757"/>
                <a:chExt cx="2242547" cy="358635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AFD90530-0EE4-4DAF-A1A8-2C382FBDFAA4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242547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34" name="타원 133">
                  <a:extLst>
                    <a:ext uri="{FF2B5EF4-FFF2-40B4-BE49-F238E27FC236}">
                      <a16:creationId xmlns:a16="http://schemas.microsoft.com/office/drawing/2014/main" id="{B469F51E-7F48-4656-880D-DBCBE0B4D683}"/>
                    </a:ext>
                  </a:extLst>
                </p:cNvPr>
                <p:cNvSpPr/>
                <p:nvPr/>
              </p:nvSpPr>
              <p:spPr>
                <a:xfrm>
                  <a:off x="4665553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77E453A7-A3D2-42BB-B141-266958BB93B0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DB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설계 및 데이터 연결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30" name="그래픽 129">
              <a:extLst>
                <a:ext uri="{FF2B5EF4-FFF2-40B4-BE49-F238E27FC236}">
                  <a16:creationId xmlns:a16="http://schemas.microsoft.com/office/drawing/2014/main" id="{FBE0CE81-7CE6-4179-BF71-633E772AB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043D5AC-E844-48AA-9CDA-1ADF5A0AEED3}"/>
              </a:ext>
            </a:extLst>
          </p:cNvPr>
          <p:cNvGrpSpPr/>
          <p:nvPr/>
        </p:nvGrpSpPr>
        <p:grpSpPr>
          <a:xfrm>
            <a:off x="4516717" y="4247342"/>
            <a:ext cx="2456768" cy="326913"/>
            <a:chOff x="4574111" y="3307757"/>
            <a:chExt cx="2456768" cy="326913"/>
          </a:xfrm>
        </p:grpSpPr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E94825B7-F8AE-49F9-B145-E5220CC141D5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231FE5BF-0155-4CC2-A778-CD82A114CEC0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FC2C8603-7CC4-4347-A724-72ADF932E4FE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1A59291F-DAC4-4010-B412-529450B4890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2CCCFB72-D644-48F3-893A-AECE55C3FAFF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205107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데이터 </a:t>
                </a:r>
                <a:r>
                  <a:rPr lang="ko-KR" altLang="en-US" sz="1200" dirty="0" err="1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크롤링</a:t>
                </a: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/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정제 및 정규화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37" name="그래픽 136">
              <a:extLst>
                <a:ext uri="{FF2B5EF4-FFF2-40B4-BE49-F238E27FC236}">
                  <a16:creationId xmlns:a16="http://schemas.microsoft.com/office/drawing/2014/main" id="{5AE27B1C-5FCC-49F1-9B8E-2E432DDD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FCA50F3A-8360-4F18-BDBA-E90D8D74A2E2}"/>
              </a:ext>
            </a:extLst>
          </p:cNvPr>
          <p:cNvGrpSpPr/>
          <p:nvPr/>
        </p:nvGrpSpPr>
        <p:grpSpPr>
          <a:xfrm>
            <a:off x="7066599" y="4866283"/>
            <a:ext cx="2456768" cy="326913"/>
            <a:chOff x="4574111" y="3307757"/>
            <a:chExt cx="2456768" cy="326913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CD32B4AD-ACE4-431F-8874-1C75DE7DA0A2}"/>
                </a:ext>
              </a:extLst>
            </p:cNvPr>
            <p:cNvGrpSpPr/>
            <p:nvPr/>
          </p:nvGrpSpPr>
          <p:grpSpPr>
            <a:xfrm>
              <a:off x="4574111" y="3307757"/>
              <a:ext cx="2456768" cy="326913"/>
              <a:chOff x="4665551" y="3307757"/>
              <a:chExt cx="2456768" cy="326913"/>
            </a:xfrm>
          </p:grpSpPr>
          <p:grpSp>
            <p:nvGrpSpPr>
              <p:cNvPr id="145" name="그룹 144">
                <a:extLst>
                  <a:ext uri="{FF2B5EF4-FFF2-40B4-BE49-F238E27FC236}">
                    <a16:creationId xmlns:a16="http://schemas.microsoft.com/office/drawing/2014/main" id="{FD306CAA-FA44-40A9-ADDE-5547438BC48D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47" name="사각형: 둥근 모서리 146">
                  <a:extLst>
                    <a:ext uri="{FF2B5EF4-FFF2-40B4-BE49-F238E27FC236}">
                      <a16:creationId xmlns:a16="http://schemas.microsoft.com/office/drawing/2014/main" id="{FAA7E4F7-E6A7-4154-BB74-66DBF923584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48" name="타원 147">
                  <a:extLst>
                    <a:ext uri="{FF2B5EF4-FFF2-40B4-BE49-F238E27FC236}">
                      <a16:creationId xmlns:a16="http://schemas.microsoft.com/office/drawing/2014/main" id="{2D37C5F0-7EDF-4D20-A713-79616BFBD85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EE7C397D-94DC-4EE5-917F-BA4F19D4F316}"/>
                  </a:ext>
                </a:extLst>
              </p:cNvPr>
              <p:cNvSpPr txBox="1"/>
              <p:nvPr/>
            </p:nvSpPr>
            <p:spPr>
              <a:xfrm>
                <a:off x="5018659" y="3354794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기능 테스트 및 개선점 파악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08387EFC-9879-4692-88F4-DC7D28BE2BA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B5D7FA82-5BC1-4718-810B-007064F02A52}"/>
              </a:ext>
            </a:extLst>
          </p:cNvPr>
          <p:cNvSpPr txBox="1"/>
          <p:nvPr/>
        </p:nvSpPr>
        <p:spPr>
          <a:xfrm>
            <a:off x="4835860" y="3609020"/>
            <a:ext cx="829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JS 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작성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D8090467-4B07-4CAB-BA42-D0DE690EBF6A}"/>
              </a:ext>
            </a:extLst>
          </p:cNvPr>
          <p:cNvGrpSpPr/>
          <p:nvPr/>
        </p:nvGrpSpPr>
        <p:grpSpPr>
          <a:xfrm>
            <a:off x="4516691" y="5550359"/>
            <a:ext cx="1344001" cy="326913"/>
            <a:chOff x="4574111" y="4896844"/>
            <a:chExt cx="1344001" cy="326913"/>
          </a:xfrm>
        </p:grpSpPr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F1BC6D05-6F0B-463A-938E-C0959EAB3899}"/>
                </a:ext>
              </a:extLst>
            </p:cNvPr>
            <p:cNvGrpSpPr/>
            <p:nvPr/>
          </p:nvGrpSpPr>
          <p:grpSpPr>
            <a:xfrm>
              <a:off x="4574111" y="4896844"/>
              <a:ext cx="1344001" cy="326913"/>
              <a:chOff x="4665551" y="3307757"/>
              <a:chExt cx="1344001" cy="326913"/>
            </a:xfrm>
          </p:grpSpPr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12428612-7F9C-413B-B135-02842C37DC60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344001" cy="326913"/>
                <a:chOff x="4665552" y="3307757"/>
                <a:chExt cx="1438690" cy="358635"/>
              </a:xfrm>
            </p:grpSpPr>
            <p:sp>
              <p:nvSpPr>
                <p:cNvPr id="157" name="사각형: 둥근 모서리 156">
                  <a:extLst>
                    <a:ext uri="{FF2B5EF4-FFF2-40B4-BE49-F238E27FC236}">
                      <a16:creationId xmlns:a16="http://schemas.microsoft.com/office/drawing/2014/main" id="{4B65A582-28AF-41A9-8F3D-7C6878D3B83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438690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58" name="타원 157">
                  <a:extLst>
                    <a:ext uri="{FF2B5EF4-FFF2-40B4-BE49-F238E27FC236}">
                      <a16:creationId xmlns:a16="http://schemas.microsoft.com/office/drawing/2014/main" id="{D5DAA652-D0F0-4323-95A2-360B3386AC99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7D75DFE-7B30-42EF-BE10-E74275EB69A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99089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UI/UX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개선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54" name="그래픽 153">
              <a:extLst>
                <a:ext uri="{FF2B5EF4-FFF2-40B4-BE49-F238E27FC236}">
                  <a16:creationId xmlns:a16="http://schemas.microsoft.com/office/drawing/2014/main" id="{8E444675-F683-48B5-BA72-1BBC2EC45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E7484484-28F0-46F9-823D-BD3BA2970080}"/>
              </a:ext>
            </a:extLst>
          </p:cNvPr>
          <p:cNvGrpSpPr/>
          <p:nvPr/>
        </p:nvGrpSpPr>
        <p:grpSpPr>
          <a:xfrm>
            <a:off x="5952234" y="5550359"/>
            <a:ext cx="2474845" cy="326913"/>
            <a:chOff x="4574111" y="5427069"/>
            <a:chExt cx="2474845" cy="326913"/>
          </a:xfrm>
        </p:grpSpPr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9E6962C7-0597-4F27-BDE6-F1C867C79A9B}"/>
                </a:ext>
              </a:extLst>
            </p:cNvPr>
            <p:cNvGrpSpPr/>
            <p:nvPr/>
          </p:nvGrpSpPr>
          <p:grpSpPr>
            <a:xfrm>
              <a:off x="4574111" y="5427069"/>
              <a:ext cx="2474845" cy="326913"/>
              <a:chOff x="4665551" y="3307757"/>
              <a:chExt cx="2474845" cy="326913"/>
            </a:xfrm>
          </p:grpSpPr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1B9C3267-AAA8-4F7D-B495-BA9748818904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164" name="사각형: 둥근 모서리 163">
                  <a:extLst>
                    <a:ext uri="{FF2B5EF4-FFF2-40B4-BE49-F238E27FC236}">
                      <a16:creationId xmlns:a16="http://schemas.microsoft.com/office/drawing/2014/main" id="{E89C5B06-C6EA-48F7-93D1-FB5E7AD1845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65" name="타원 164">
                  <a:extLst>
                    <a:ext uri="{FF2B5EF4-FFF2-40B4-BE49-F238E27FC236}">
                      <a16:creationId xmlns:a16="http://schemas.microsoft.com/office/drawing/2014/main" id="{A02C2E70-CE24-4F6E-974B-336EE5E936FF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E96F5990-CE2F-49D8-89C3-97377F0FE30B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0" fontAlgn="ctr">
                  <a:spcBef>
                    <a:spcPts val="600"/>
                  </a:spcBef>
                  <a:buFont typeface="Arial" panose="020B0604020202020204" pitchFamily="34" charset="0"/>
                  <a:buNone/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서버 속도 개선 및 쿼리 튜닝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61" name="그래픽 160">
              <a:extLst>
                <a:ext uri="{FF2B5EF4-FFF2-40B4-BE49-F238E27FC236}">
                  <a16:creationId xmlns:a16="http://schemas.microsoft.com/office/drawing/2014/main" id="{6D256869-C188-4F7A-8C16-0940509E85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689702" y="5505502"/>
              <a:ext cx="149803" cy="180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862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00E8F-F2D5-4F7F-B490-48BDA8EE6BE3}"/>
              </a:ext>
            </a:extLst>
          </p:cNvPr>
          <p:cNvSpPr txBox="1"/>
          <p:nvPr/>
        </p:nvSpPr>
        <p:spPr>
          <a:xfrm>
            <a:off x="623392" y="1340768"/>
            <a:ext cx="11431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1A65E8FE-449E-4479-BCB5-E084AD7AE0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2132856"/>
            <a:ext cx="2655576" cy="2655576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9FDBD98C-409B-4784-9FA8-36AD5BB942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61" y="1916832"/>
            <a:ext cx="2880319" cy="2880319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0F89EEFB-B033-4A2E-AF6A-C3F68019A083}"/>
              </a:ext>
            </a:extLst>
          </p:cNvPr>
          <p:cNvSpPr txBox="1"/>
          <p:nvPr/>
        </p:nvSpPr>
        <p:spPr>
          <a:xfrm>
            <a:off x="1662100" y="4765211"/>
            <a:ext cx="309844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커뮤니티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CBAC601-77D3-44AD-AD7E-156C78031C38}"/>
              </a:ext>
            </a:extLst>
          </p:cNvPr>
          <p:cNvSpPr txBox="1"/>
          <p:nvPr/>
        </p:nvSpPr>
        <p:spPr>
          <a:xfrm>
            <a:off x="7356140" y="4941168"/>
            <a:ext cx="30984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지능형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(AI)</a:t>
            </a: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DEE6E145-52A4-4F77-AA93-3261DBADEB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131" y="3284984"/>
            <a:ext cx="764469" cy="764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600E8F-F2D5-4F7F-B490-48BDA8EE6BE3}"/>
              </a:ext>
            </a:extLst>
          </p:cNvPr>
          <p:cNvSpPr txBox="1"/>
          <p:nvPr/>
        </p:nvSpPr>
        <p:spPr>
          <a:xfrm>
            <a:off x="623392" y="1340768"/>
            <a:ext cx="3744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-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프로젝트 기획 및 주제 선정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89EEFB-B033-4A2E-AF6A-C3F68019A083}"/>
              </a:ext>
            </a:extLst>
          </p:cNvPr>
          <p:cNvSpPr txBox="1"/>
          <p:nvPr/>
        </p:nvSpPr>
        <p:spPr>
          <a:xfrm>
            <a:off x="3986703" y="2956880"/>
            <a:ext cx="15492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2">
                  <a:lumMod val="50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1BB4E-C057-2F2D-696F-11A691E47AB9}"/>
              </a:ext>
            </a:extLst>
          </p:cNvPr>
          <p:cNvSpPr txBox="1"/>
          <p:nvPr/>
        </p:nvSpPr>
        <p:spPr>
          <a:xfrm>
            <a:off x="821952" y="1844824"/>
            <a:ext cx="19629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커뮤니티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C588E5-96EF-759D-0F32-C79279D8CA3B}"/>
              </a:ext>
            </a:extLst>
          </p:cNvPr>
          <p:cNvSpPr txBox="1"/>
          <p:nvPr/>
        </p:nvSpPr>
        <p:spPr>
          <a:xfrm>
            <a:off x="9635119" y="2780928"/>
            <a:ext cx="15886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지능형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58616F-6B85-727B-DB4B-FE806DFE0470}"/>
              </a:ext>
            </a:extLst>
          </p:cNvPr>
          <p:cNvSpPr txBox="1"/>
          <p:nvPr/>
        </p:nvSpPr>
        <p:spPr>
          <a:xfrm>
            <a:off x="6827225" y="1916832"/>
            <a:ext cx="15492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참여형</a:t>
            </a:r>
            <a:endParaRPr lang="en-US" altLang="ko-KR" sz="3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43712-FF9D-674D-E599-8EFFA4015DAD}"/>
              </a:ext>
            </a:extLst>
          </p:cNvPr>
          <p:cNvSpPr txBox="1"/>
          <p:nvPr/>
        </p:nvSpPr>
        <p:spPr>
          <a:xfrm>
            <a:off x="402156" y="2662387"/>
            <a:ext cx="2802558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회원가입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로그인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정보찾기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게시글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댓글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CRUD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마이페이지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페이지네이션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카테고리 관리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추천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비추천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해시태그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기본적인 검색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신고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차단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관리자 기능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6">
                  <a:lumMod val="7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4FD381-1913-CA85-7235-43099658C396}"/>
              </a:ext>
            </a:extLst>
          </p:cNvPr>
          <p:cNvSpPr txBox="1"/>
          <p:nvPr/>
        </p:nvSpPr>
        <p:spPr>
          <a:xfrm>
            <a:off x="3469379" y="3726321"/>
            <a:ext cx="2583867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로그인 유저 간 라이브 채팅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2">
                  <a:lumMod val="50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유저 간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Direct message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댓글 표시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2">
                  <a:lumMod val="50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2">
                    <a:lumMod val="50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공지사항 실시간 갱신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2">
                  <a:lumMod val="50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3AFD0B-D1D4-86EC-BA51-CBD4EB144268}"/>
              </a:ext>
            </a:extLst>
          </p:cNvPr>
          <p:cNvSpPr txBox="1"/>
          <p:nvPr/>
        </p:nvSpPr>
        <p:spPr>
          <a:xfrm>
            <a:off x="6471767" y="2686273"/>
            <a:ext cx="2272674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팔로우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팔로워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프로필 꾸미기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커뮤니티 화폐 시스템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0070C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포인트 상점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0070C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370134-730E-67C8-AC35-D25A34D3F926}"/>
              </a:ext>
            </a:extLst>
          </p:cNvPr>
          <p:cNvSpPr txBox="1"/>
          <p:nvPr/>
        </p:nvSpPr>
        <p:spPr>
          <a:xfrm>
            <a:off x="9060179" y="3535202"/>
            <a:ext cx="2735179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활동 로그 기반 맞춤 광고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관심기술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기술역량 자가체크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활동 로그 기반 게시글 추천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작성하는 게시글 태그 추천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라이브 채팅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AI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C00000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대화주제 추천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C00000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4963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B0602-0042-B2BA-A937-DFFEA4D96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E3ACC08C-0712-1918-2E02-7986DE23BE12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6B24E40-C9A2-5C81-66F8-A4C0EBA82A3A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D50A405-CA91-7D42-33A5-AE4AD3FFC9B4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BBE165B-A8A8-21DB-5899-32A5480E31E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7FCFFFF-4C5F-0F84-F4C4-3C38507B8F82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E4A1E24D-CFAE-7709-F6D8-DE814256B97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BEDD2511-5B94-430F-867F-29A1516DB7E5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541E99-7CEA-837A-48B1-864E878C8D8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722FD5-6F25-7EE3-2393-5AB396E4A353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9CC25B-1167-BB5B-DB02-35A808173F1C}"/>
              </a:ext>
            </a:extLst>
          </p:cNvPr>
          <p:cNvSpPr txBox="1"/>
          <p:nvPr/>
        </p:nvSpPr>
        <p:spPr>
          <a:xfrm>
            <a:off x="623392" y="1340768"/>
            <a:ext cx="3744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디렉토리 설계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4D5282A-4BF8-46FC-033C-579B1D30C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70" y="1727935"/>
            <a:ext cx="1694353" cy="5095473"/>
          </a:xfrm>
          <a:prstGeom prst="rect">
            <a:avLst/>
          </a:prstGeom>
        </p:spPr>
      </p:pic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965BF89-3EED-FC06-C4F2-4B6E668333CF}"/>
              </a:ext>
            </a:extLst>
          </p:cNvPr>
          <p:cNvCxnSpPr>
            <a:cxnSpLocks/>
          </p:cNvCxnSpPr>
          <p:nvPr/>
        </p:nvCxnSpPr>
        <p:spPr>
          <a:xfrm>
            <a:off x="196874" y="1880828"/>
            <a:ext cx="642542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3633B7A-941E-A69F-E6FA-1AC8B135BFA6}"/>
              </a:ext>
            </a:extLst>
          </p:cNvPr>
          <p:cNvCxnSpPr>
            <a:cxnSpLocks/>
          </p:cNvCxnSpPr>
          <p:nvPr/>
        </p:nvCxnSpPr>
        <p:spPr>
          <a:xfrm>
            <a:off x="263352" y="2168860"/>
            <a:ext cx="32127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30F1A0-5098-C3E9-B4E6-A0C1BDAA16B1}"/>
              </a:ext>
            </a:extLst>
          </p:cNvPr>
          <p:cNvSpPr/>
          <p:nvPr/>
        </p:nvSpPr>
        <p:spPr>
          <a:xfrm>
            <a:off x="280790" y="2294930"/>
            <a:ext cx="918666" cy="1350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FEDA3EC-1BDE-60FB-D4FF-1E66C0B50ADD}"/>
              </a:ext>
            </a:extLst>
          </p:cNvPr>
          <p:cNvSpPr/>
          <p:nvPr/>
        </p:nvSpPr>
        <p:spPr>
          <a:xfrm>
            <a:off x="280790" y="3645022"/>
            <a:ext cx="918666" cy="11161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EC295-F948-B896-7B82-415506949292}"/>
              </a:ext>
            </a:extLst>
          </p:cNvPr>
          <p:cNvSpPr/>
          <p:nvPr/>
        </p:nvSpPr>
        <p:spPr>
          <a:xfrm>
            <a:off x="280790" y="4754920"/>
            <a:ext cx="918666" cy="13563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E89C9CD-EAA7-DCF9-8C81-A61CDC72E944}"/>
              </a:ext>
            </a:extLst>
          </p:cNvPr>
          <p:cNvSpPr/>
          <p:nvPr/>
        </p:nvSpPr>
        <p:spPr>
          <a:xfrm>
            <a:off x="280790" y="6093296"/>
            <a:ext cx="918666" cy="4314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79320BE-2566-6D96-1857-AA05EF8D55A7}"/>
              </a:ext>
            </a:extLst>
          </p:cNvPr>
          <p:cNvSpPr/>
          <p:nvPr/>
        </p:nvSpPr>
        <p:spPr>
          <a:xfrm>
            <a:off x="280790" y="6524758"/>
            <a:ext cx="918666" cy="2625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165E26-2077-FBB7-645B-4F80A8A7B889}"/>
              </a:ext>
            </a:extLst>
          </p:cNvPr>
          <p:cNvSpPr txBox="1"/>
          <p:nvPr/>
        </p:nvSpPr>
        <p:spPr>
          <a:xfrm>
            <a:off x="2243572" y="1817811"/>
            <a:ext cx="30984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대분류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(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페이지별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29BD17-BCE2-C784-9F43-BEB4A70B4881}"/>
              </a:ext>
            </a:extLst>
          </p:cNvPr>
          <p:cNvSpPr txBox="1"/>
          <p:nvPr/>
        </p:nvSpPr>
        <p:spPr>
          <a:xfrm>
            <a:off x="5555940" y="1817811"/>
            <a:ext cx="30984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중분류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(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기능별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B40C32-644E-4E12-80E7-D8D289209C4B}"/>
              </a:ext>
            </a:extLst>
          </p:cNvPr>
          <p:cNvSpPr txBox="1"/>
          <p:nvPr/>
        </p:nvSpPr>
        <p:spPr>
          <a:xfrm>
            <a:off x="8796300" y="1798146"/>
            <a:ext cx="30984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소분류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(</a:t>
            </a:r>
            <a:r>
              <a: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책임별</a:t>
            </a:r>
            <a:r>
              <a:rPr lang="en-US" altLang="ko-KR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BF561C-6BE5-AE59-6DA7-B9CC7634D8FA}"/>
              </a:ext>
            </a:extLst>
          </p:cNvPr>
          <p:cNvSpPr txBox="1"/>
          <p:nvPr/>
        </p:nvSpPr>
        <p:spPr>
          <a:xfrm>
            <a:off x="2164714" y="2677227"/>
            <a:ext cx="3098440" cy="3924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Account</a:t>
            </a:r>
          </a:p>
          <a:p>
            <a:pPr algn="ctr">
              <a:lnSpc>
                <a:spcPct val="150000"/>
              </a:lnSpc>
              <a:defRPr/>
            </a:pP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Home</a:t>
            </a:r>
          </a:p>
          <a:p>
            <a:pPr algn="ctr">
              <a:lnSpc>
                <a:spcPct val="150000"/>
              </a:lnSpc>
              <a:defRPr/>
            </a:pP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2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MyPage</a:t>
            </a: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5B8700-4757-AE83-BE99-4722D37D8212}"/>
              </a:ext>
            </a:extLst>
          </p:cNvPr>
          <p:cNvSpPr txBox="1"/>
          <p:nvPr/>
        </p:nvSpPr>
        <p:spPr>
          <a:xfrm>
            <a:off x="5973311" y="2661736"/>
            <a:ext cx="2097773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회원가입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정보 찾기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로그인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로그아웃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B13DE7-27BB-3D77-4CFB-F12D993F5ADE}"/>
              </a:ext>
            </a:extLst>
          </p:cNvPr>
          <p:cNvSpPr txBox="1"/>
          <p:nvPr/>
        </p:nvSpPr>
        <p:spPr>
          <a:xfrm>
            <a:off x="6014451" y="3356992"/>
            <a:ext cx="2097773" cy="1454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게시글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댓글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CRUD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페이지네이션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카테고리 필터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정렬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추천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비추천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신고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차단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C920EA-50F8-1984-49AE-FF55D0BBE1D3}"/>
              </a:ext>
            </a:extLst>
          </p:cNvPr>
          <p:cNvSpPr txBox="1"/>
          <p:nvPr/>
        </p:nvSpPr>
        <p:spPr>
          <a:xfrm>
            <a:off x="5771964" y="4941022"/>
            <a:ext cx="2598107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관심도 그래프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아이템 관리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정보수정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2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팔로우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관리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DM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포인트 관리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알림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회원탈퇴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E2B8EE-7F2F-758A-C083-D0D7F40C1815}"/>
              </a:ext>
            </a:extLst>
          </p:cNvPr>
          <p:cNvSpPr txBox="1"/>
          <p:nvPr/>
        </p:nvSpPr>
        <p:spPr>
          <a:xfrm>
            <a:off x="6240016" y="6129300"/>
            <a:ext cx="1677112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헤더 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2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푸터</a:t>
            </a:r>
            <a:r>
              <a: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사이드바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24BBD453-6D1E-72A1-2928-4C4D93168E1C}"/>
              </a:ext>
            </a:extLst>
          </p:cNvPr>
          <p:cNvCxnSpPr>
            <a:cxnSpLocks/>
          </p:cNvCxnSpPr>
          <p:nvPr/>
        </p:nvCxnSpPr>
        <p:spPr>
          <a:xfrm>
            <a:off x="6384032" y="3320988"/>
            <a:ext cx="129614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3CD5716-5190-AAB9-EB61-9E72088259FD}"/>
              </a:ext>
            </a:extLst>
          </p:cNvPr>
          <p:cNvCxnSpPr>
            <a:cxnSpLocks/>
          </p:cNvCxnSpPr>
          <p:nvPr/>
        </p:nvCxnSpPr>
        <p:spPr>
          <a:xfrm>
            <a:off x="6415265" y="4860506"/>
            <a:ext cx="129614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6D3F92D7-6294-B282-BB0F-D68383ABE6B5}"/>
              </a:ext>
            </a:extLst>
          </p:cNvPr>
          <p:cNvCxnSpPr>
            <a:cxnSpLocks/>
          </p:cNvCxnSpPr>
          <p:nvPr/>
        </p:nvCxnSpPr>
        <p:spPr>
          <a:xfrm>
            <a:off x="6415265" y="6021288"/>
            <a:ext cx="129614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D296DE1-CFE4-85EF-D522-C26ADF7423AB}"/>
              </a:ext>
            </a:extLst>
          </p:cNvPr>
          <p:cNvSpPr txBox="1"/>
          <p:nvPr/>
        </p:nvSpPr>
        <p:spPr>
          <a:xfrm>
            <a:off x="9481424" y="4132758"/>
            <a:ext cx="1728192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디버깅 포인트 체크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유지보수성 강화</a:t>
            </a:r>
            <a:endParaRPr lang="en-US" altLang="ko-KR" sz="12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33366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98D37-183C-A5D2-2D93-36E44B8DA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AD739686-6344-50DA-F1A0-296502C31DED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D6EB42B-675F-0CB3-40F8-F24CFB2B8ECA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EF8160-B2F1-9DF3-2348-69E807E212F9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7CADAE-86C3-E0E9-579A-177FCB512302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6708625-D470-F10A-F79A-BF580A23DC6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D944D7E9-5817-6C30-9598-F23280AA941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678C13F-EB4E-B737-1FE3-41303A66C4F3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8C60B8-F798-8687-CA01-96C83A42D6A1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8BDF0-1DDE-C06C-6413-49BDA692165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A20890-C973-B48F-6042-9C97689231F3}"/>
              </a:ext>
            </a:extLst>
          </p:cNvPr>
          <p:cNvSpPr txBox="1"/>
          <p:nvPr/>
        </p:nvSpPr>
        <p:spPr>
          <a:xfrm>
            <a:off x="623392" y="1340768"/>
            <a:ext cx="3744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</a:t>
            </a:r>
            <a:r>
              <a:rPr lang="en-US" altLang="ko-KR" sz="1400" b="1" spc="-3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HTML &amp; CSS</a:t>
            </a:r>
            <a:r>
              <a:rPr lang="ko-KR" altLang="en-US" sz="1400" b="1" spc="-3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설계</a:t>
            </a:r>
            <a:endParaRPr lang="en-US" altLang="ko-KR" sz="1400" b="1" spc="-3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23DE504-6FA1-1731-3502-E1AB08B5E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75" y="2100026"/>
            <a:ext cx="4039164" cy="50489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C26295F-533B-6FC3-7E07-652B79599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96" y="3915081"/>
            <a:ext cx="4525006" cy="5715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380DCE7-170B-D322-973B-A5405385E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9637" y="1897978"/>
            <a:ext cx="6192688" cy="817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B25EBEB-2A5B-0B38-FCDF-DC78EEE9C3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76" y="3515797"/>
            <a:ext cx="4236146" cy="126460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07BCB2E7-1234-790C-5025-E6DB59F055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333" y="2919249"/>
            <a:ext cx="566533" cy="56653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9C9A518-F994-84AE-04A0-5EA473416EC0}"/>
              </a:ext>
            </a:extLst>
          </p:cNvPr>
          <p:cNvSpPr txBox="1"/>
          <p:nvPr/>
        </p:nvSpPr>
        <p:spPr>
          <a:xfrm>
            <a:off x="1447409" y="5276904"/>
            <a:ext cx="232004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사이트 타이틀 교체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9B9485-416F-E4C0-85FD-0F19DF3F929D}"/>
              </a:ext>
            </a:extLst>
          </p:cNvPr>
          <p:cNvSpPr txBox="1"/>
          <p:nvPr/>
        </p:nvSpPr>
        <p:spPr>
          <a:xfrm>
            <a:off x="10811039" y="2659283"/>
            <a:ext cx="1116124" cy="32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05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1920px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4F2396-E97F-050C-B06E-53265EA4A5F6}"/>
              </a:ext>
            </a:extLst>
          </p:cNvPr>
          <p:cNvSpPr txBox="1"/>
          <p:nvPr/>
        </p:nvSpPr>
        <p:spPr>
          <a:xfrm>
            <a:off x="10272464" y="4741156"/>
            <a:ext cx="905848" cy="32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05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1400px</a:t>
            </a:r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6FC464B1-1BD5-A5F5-E4DB-F21ABA3751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7282" y="2862467"/>
            <a:ext cx="566533" cy="566533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586A14BA-F598-10A3-9F16-6EB78D17D493}"/>
              </a:ext>
            </a:extLst>
          </p:cNvPr>
          <p:cNvSpPr txBox="1"/>
          <p:nvPr/>
        </p:nvSpPr>
        <p:spPr>
          <a:xfrm>
            <a:off x="7750527" y="5276110"/>
            <a:ext cx="232004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반응형 웹 적용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5340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7225F-2620-2E84-320E-9A092A475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077017EE-638E-E135-3883-122C71035F09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DE0744A-53CF-A464-C1B9-238012D3F9BD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0793503-FF27-F918-40CE-29E1B2D1DF06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2157CB-2AEC-76A9-2866-E181B23C92F6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E3CE624-F40C-5EB2-BDA4-D15A3E003C8F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8043A4B1-472D-E828-E515-71A7518BE0A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341FE0E7-425E-4D10-6991-3280295BF4D5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5B7EB9-1178-BD69-49C3-559117278CAF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FF0CE5-B9C5-9871-F52D-E0C73CF69648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ACE570C-E44B-B5C1-58F0-428E44D2A6D0}"/>
              </a:ext>
            </a:extLst>
          </p:cNvPr>
          <p:cNvSpPr txBox="1"/>
          <p:nvPr/>
        </p:nvSpPr>
        <p:spPr>
          <a:xfrm>
            <a:off x="623392" y="1340768"/>
            <a:ext cx="3744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공통 기능 및 페이지 모듈화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DE4CE0-F26E-A057-1CE9-2C32E1550F72}"/>
              </a:ext>
            </a:extLst>
          </p:cNvPr>
          <p:cNvSpPr txBox="1"/>
          <p:nvPr/>
        </p:nvSpPr>
        <p:spPr>
          <a:xfrm>
            <a:off x="4464751" y="5365542"/>
            <a:ext cx="2741312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헤더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푸터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사이드바 포함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Base.html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C3918EF-1C2E-7DE1-68E7-41F3B4869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40" y="1747777"/>
            <a:ext cx="1745202" cy="5039504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4E307F2-1447-B578-87A2-A4860CA885F8}"/>
              </a:ext>
            </a:extLst>
          </p:cNvPr>
          <p:cNvSpPr/>
          <p:nvPr/>
        </p:nvSpPr>
        <p:spPr>
          <a:xfrm>
            <a:off x="263352" y="3040910"/>
            <a:ext cx="864096" cy="17202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BA5E6F-A7BC-BF7B-2335-909E2BC352FF}"/>
              </a:ext>
            </a:extLst>
          </p:cNvPr>
          <p:cNvSpPr/>
          <p:nvPr/>
        </p:nvSpPr>
        <p:spPr>
          <a:xfrm>
            <a:off x="263352" y="4747316"/>
            <a:ext cx="864096" cy="7699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C471C0C-B68F-6332-2FDC-D623C3AC7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704" y="3136599"/>
            <a:ext cx="1368152" cy="83683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923C0EA-B946-F7F4-EBD8-C15B0D5D7D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803" y="2018484"/>
            <a:ext cx="3395208" cy="305335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BD1C2E73-C8AE-24FF-71A9-0F57CB6A7F90}"/>
              </a:ext>
            </a:extLst>
          </p:cNvPr>
          <p:cNvSpPr/>
          <p:nvPr/>
        </p:nvSpPr>
        <p:spPr>
          <a:xfrm>
            <a:off x="4607595" y="2564904"/>
            <a:ext cx="1884449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1A5D0BF-EF93-6BC3-B334-98CAFE264E8A}"/>
              </a:ext>
            </a:extLst>
          </p:cNvPr>
          <p:cNvCxnSpPr/>
          <p:nvPr/>
        </p:nvCxnSpPr>
        <p:spPr>
          <a:xfrm>
            <a:off x="3541792" y="3545162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F233DFF-E69E-7F52-FADC-0FAA52C0ACA9}"/>
              </a:ext>
            </a:extLst>
          </p:cNvPr>
          <p:cNvCxnSpPr/>
          <p:nvPr/>
        </p:nvCxnSpPr>
        <p:spPr>
          <a:xfrm>
            <a:off x="8580276" y="3465579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3E76DA95-CD76-3660-3858-9809AEF3D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1716" y="1988840"/>
            <a:ext cx="3870928" cy="3132348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3482CB-71D6-3ACB-8DB0-C127F760316C}"/>
              </a:ext>
            </a:extLst>
          </p:cNvPr>
          <p:cNvSpPr/>
          <p:nvPr/>
        </p:nvSpPr>
        <p:spPr>
          <a:xfrm>
            <a:off x="4655840" y="4185084"/>
            <a:ext cx="1884449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783AD5C-5C1C-2DBA-676F-29B6EE390BA6}"/>
              </a:ext>
            </a:extLst>
          </p:cNvPr>
          <p:cNvSpPr/>
          <p:nvPr/>
        </p:nvSpPr>
        <p:spPr>
          <a:xfrm>
            <a:off x="4655840" y="4476006"/>
            <a:ext cx="1884449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2733CEAC-9B8C-DB56-786B-C3245D2E12BC}"/>
              </a:ext>
            </a:extLst>
          </p:cNvPr>
          <p:cNvCxnSpPr/>
          <p:nvPr/>
        </p:nvCxnSpPr>
        <p:spPr>
          <a:xfrm>
            <a:off x="7608168" y="3532643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50C75CF-5F6D-49FE-BD7A-2EAA8DAD688F}"/>
              </a:ext>
            </a:extLst>
          </p:cNvPr>
          <p:cNvSpPr txBox="1"/>
          <p:nvPr/>
        </p:nvSpPr>
        <p:spPr>
          <a:xfrm>
            <a:off x="8652284" y="5174750"/>
            <a:ext cx="274131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각 페이지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Base.html</a:t>
            </a:r>
          </a:p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extends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53AB5FD-2B95-59D6-0D30-C45A98D9A188}"/>
              </a:ext>
            </a:extLst>
          </p:cNvPr>
          <p:cNvSpPr/>
          <p:nvPr/>
        </p:nvSpPr>
        <p:spPr>
          <a:xfrm>
            <a:off x="8328249" y="2636624"/>
            <a:ext cx="111612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741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E2149-62BC-C715-84C9-A9A139F98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A1692A94-03E8-2612-DBBB-49F3718B669E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C8E5957-B73D-1398-CFFC-695FBE37E04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8AE795-900B-737C-AF6E-C5E10C62BBC2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B7242F9-807D-B8F4-7F29-D9575B7CCCC6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CDBBC70-D63C-3DC3-CA0D-ACCB8CFED774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4E32E98-1197-87E2-C59A-F2FC996E0A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C040B994-36EC-B7C6-078D-DDFFA1DF4393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B76884-148B-1E98-4F35-D8ECF36E700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6C64D3-B4F6-428E-E1CA-B96D1421418E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F6AA9FD-7F2B-4608-665B-3B60EC63BCCA}"/>
              </a:ext>
            </a:extLst>
          </p:cNvPr>
          <p:cNvSpPr txBox="1"/>
          <p:nvPr/>
        </p:nvSpPr>
        <p:spPr>
          <a:xfrm>
            <a:off x="623392" y="1340768"/>
            <a:ext cx="37444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사전기획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공통 기능 및 페이지 모듈화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292119-0B28-2159-04E2-C3D224D4FE81}"/>
              </a:ext>
            </a:extLst>
          </p:cNvPr>
          <p:cNvSpPr txBox="1"/>
          <p:nvPr/>
        </p:nvSpPr>
        <p:spPr>
          <a:xfrm>
            <a:off x="3677393" y="5742022"/>
            <a:ext cx="2741312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사이드바 </a:t>
            </a:r>
            <a:r>
              <a:rPr lang="en-US" altLang="ko-KR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url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별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활성탭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리스트 교체필요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FEAA5D-2CB8-9D6C-7EE4-EE1D0198C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40" y="1747777"/>
            <a:ext cx="1745202" cy="503950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B1D17D-E605-2FC1-542B-94D097C6B21D}"/>
              </a:ext>
            </a:extLst>
          </p:cNvPr>
          <p:cNvSpPr/>
          <p:nvPr/>
        </p:nvSpPr>
        <p:spPr>
          <a:xfrm>
            <a:off x="160416" y="6636200"/>
            <a:ext cx="864096" cy="1510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1181A268-356D-DB92-4B29-F5A2ADC4C746}"/>
              </a:ext>
            </a:extLst>
          </p:cNvPr>
          <p:cNvCxnSpPr/>
          <p:nvPr/>
        </p:nvCxnSpPr>
        <p:spPr>
          <a:xfrm>
            <a:off x="8436260" y="4005064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615ABA4-2089-3220-84C9-B2BF472247A6}"/>
              </a:ext>
            </a:extLst>
          </p:cNvPr>
          <p:cNvSpPr txBox="1"/>
          <p:nvPr/>
        </p:nvSpPr>
        <p:spPr>
          <a:xfrm>
            <a:off x="6824994" y="1903632"/>
            <a:ext cx="9001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/info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247B2A-F3C1-771E-87F9-82AE3DE73F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709"/>
          <a:stretch/>
        </p:blipFill>
        <p:spPr>
          <a:xfrm>
            <a:off x="2060406" y="2409082"/>
            <a:ext cx="1936997" cy="332417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A73EDA8-B0FE-1C4E-AF69-680525C018C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499"/>
          <a:stretch/>
        </p:blipFill>
        <p:spPr>
          <a:xfrm>
            <a:off x="4151784" y="2409082"/>
            <a:ext cx="1988299" cy="331034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CC2C5C2-2066-74D5-AED6-1183EAC3642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9624"/>
          <a:stretch/>
        </p:blipFill>
        <p:spPr>
          <a:xfrm>
            <a:off x="6314616" y="2409082"/>
            <a:ext cx="1920857" cy="332417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B98EDA6-1A48-C07A-B5CF-B0BC68769A77}"/>
              </a:ext>
            </a:extLst>
          </p:cNvPr>
          <p:cNvSpPr txBox="1"/>
          <p:nvPr/>
        </p:nvSpPr>
        <p:spPr>
          <a:xfrm>
            <a:off x="4115780" y="1916832"/>
            <a:ext cx="208419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</a:t>
            </a:r>
            <a:r>
              <a:rPr lang="en-US" altLang="ko-KR" sz="16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mypage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-posts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423A17-7FD2-F4B8-F8A9-778D93D05BDE}"/>
              </a:ext>
            </a:extLst>
          </p:cNvPr>
          <p:cNvSpPr txBox="1"/>
          <p:nvPr/>
        </p:nvSpPr>
        <p:spPr>
          <a:xfrm>
            <a:off x="2459484" y="1952450"/>
            <a:ext cx="9001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/home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4FA05AE-1B4A-CA8C-83A1-1753E1C0FCCD}"/>
              </a:ext>
            </a:extLst>
          </p:cNvPr>
          <p:cNvSpPr/>
          <p:nvPr/>
        </p:nvSpPr>
        <p:spPr>
          <a:xfrm>
            <a:off x="4196159" y="2441512"/>
            <a:ext cx="1884449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B9C5527-7770-C5A2-8111-0F8398ADB4D1}"/>
              </a:ext>
            </a:extLst>
          </p:cNvPr>
          <p:cNvSpPr/>
          <p:nvPr/>
        </p:nvSpPr>
        <p:spPr>
          <a:xfrm>
            <a:off x="6344686" y="2420888"/>
            <a:ext cx="1884449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725F1964-429C-19E1-1248-981B13A52C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7623" y="2060848"/>
            <a:ext cx="2997029" cy="375303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FBA7865-8D8F-9AF2-EE54-63E32AC92683}"/>
              </a:ext>
            </a:extLst>
          </p:cNvPr>
          <p:cNvSpPr txBox="1"/>
          <p:nvPr/>
        </p:nvSpPr>
        <p:spPr>
          <a:xfrm>
            <a:off x="9095481" y="5811056"/>
            <a:ext cx="2741312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각 페이지 </a:t>
            </a:r>
            <a:r>
              <a:rPr lang="en-US" altLang="ko-KR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routes.py </a:t>
            </a: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에서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6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선택하여 출력가능</a:t>
            </a:r>
            <a:endParaRPr lang="en-US" altLang="ko-KR" sz="16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6622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C2449-8B1A-D882-BBC7-E49B70FEB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D7DF9647-6574-B357-C1F5-6B04BB01E284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87183A3-EC10-8A6D-48B8-DF927EBA59C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DA32457-4945-9687-56FD-E5FCE9EA540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DF107D-959F-4731-9CBE-42D4D85A8B2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9410B87-7CB3-2A13-E845-37EA70037040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B46338A1-6EE4-845A-29F0-3109AE21263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28C3367-4109-8BE2-3114-99773DDA98E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F6365D-BA21-92B1-2366-B4E8DA8CBB32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2A6D3-DC87-F13A-9D3C-2A8163C14C5D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34CA06-FC44-2147-2AD3-0056F72DD370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kumimoji="0" lang="en-US" altLang="ko-KR" sz="1400" b="1" i="0" u="none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t>UX</a:t>
            </a:r>
            <a:r>
              <a:rPr kumimoji="0" lang="ko-KR" altLang="en-US" sz="1400" b="1" i="0" u="none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t> </a:t>
            </a:r>
            <a:r>
              <a:rPr kumimoji="0" lang="en-US" altLang="ko-KR" sz="1400" b="1" i="0" u="none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t>/ DB </a:t>
            </a:r>
            <a:r>
              <a:rPr kumimoji="0" lang="ko-KR" altLang="en-US" sz="1400" b="1" i="0" u="none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t>설계</a:t>
            </a:r>
            <a:r>
              <a:rPr lang="en-US" altLang="ko-KR" sz="14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kumimoji="0" lang="ko-KR" altLang="en-US" sz="1400" b="1" i="0" u="none" strike="noStrike" kern="1200" cap="none" spc="0" normalizeH="0" baseline="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t>데이터 연결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JS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작성 및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설계 데이터 연결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0CDB55-F29D-5B41-0A39-BF56B42DA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28" y="1904669"/>
            <a:ext cx="2219635" cy="482032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DD1FC90-2927-5EDC-96A1-C895A6875CB9}"/>
              </a:ext>
            </a:extLst>
          </p:cNvPr>
          <p:cNvSpPr txBox="1"/>
          <p:nvPr/>
        </p:nvSpPr>
        <p:spPr>
          <a:xfrm>
            <a:off x="4331804" y="3225597"/>
            <a:ext cx="2741312" cy="1719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기존 </a:t>
            </a: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</a:p>
          <a:p>
            <a:pPr algn="ctr">
              <a:lnSpc>
                <a:spcPct val="15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AI </a:t>
            </a: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기능 구현을 위한</a:t>
            </a:r>
            <a:endParaRPr lang="en-US" altLang="ko-KR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컬럼 추가</a:t>
            </a:r>
            <a:endParaRPr lang="en-US" altLang="ko-KR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신규 테이블 생성</a:t>
            </a:r>
            <a:endParaRPr lang="en-US" altLang="ko-KR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C381261-C2C0-6715-B458-2D23103075F1}"/>
              </a:ext>
            </a:extLst>
          </p:cNvPr>
          <p:cNvSpPr/>
          <p:nvPr/>
        </p:nvSpPr>
        <p:spPr>
          <a:xfrm>
            <a:off x="519496" y="2397820"/>
            <a:ext cx="1940100" cy="599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5419778-9DA1-8783-313E-751F45838300}"/>
              </a:ext>
            </a:extLst>
          </p:cNvPr>
          <p:cNvSpPr/>
          <p:nvPr/>
        </p:nvSpPr>
        <p:spPr>
          <a:xfrm>
            <a:off x="525772" y="3465004"/>
            <a:ext cx="1940100" cy="2335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9674B78-4554-2004-43FC-AD2993E61184}"/>
              </a:ext>
            </a:extLst>
          </p:cNvPr>
          <p:cNvSpPr/>
          <p:nvPr/>
        </p:nvSpPr>
        <p:spPr>
          <a:xfrm>
            <a:off x="546071" y="5811056"/>
            <a:ext cx="1940100" cy="599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58B281-EC05-89DC-65B4-29E8EE6A893E}"/>
              </a:ext>
            </a:extLst>
          </p:cNvPr>
          <p:cNvSpPr txBox="1"/>
          <p:nvPr/>
        </p:nvSpPr>
        <p:spPr>
          <a:xfrm>
            <a:off x="8184232" y="3581795"/>
            <a:ext cx="2741312" cy="888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HTML → Jinja </a:t>
            </a: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문법 변환</a:t>
            </a:r>
            <a:endParaRPr lang="en-US" altLang="ko-KR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데이터 연결 테스트</a:t>
            </a:r>
            <a:endParaRPr lang="en-US" altLang="ko-KR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8D45270-E194-5396-C439-B148559B2759}"/>
              </a:ext>
            </a:extLst>
          </p:cNvPr>
          <p:cNvCxnSpPr/>
          <p:nvPr/>
        </p:nvCxnSpPr>
        <p:spPr>
          <a:xfrm>
            <a:off x="3450694" y="4077072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DA9B984-AB64-3BFF-A2F4-29BCC57A1EFB}"/>
              </a:ext>
            </a:extLst>
          </p:cNvPr>
          <p:cNvCxnSpPr/>
          <p:nvPr/>
        </p:nvCxnSpPr>
        <p:spPr>
          <a:xfrm>
            <a:off x="7392144" y="4056236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267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F6D9-AF82-55D5-31B2-D3BAB9E9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922F0C11-A45D-CD40-774A-4E189D200E1A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58AFBFB-203D-6AA2-70DD-2BA3A23C90A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5D8C77-46D1-C27A-DB96-1EE5FB11B7EC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55CE5FC-D967-FD9E-EEE5-9EAC866F07BA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D388773-22D2-F533-94D3-C298D1CF8E0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23F796D-DCF8-5DDD-B29F-15CAC269E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03133587-6780-D01D-E1C1-E92C11D4A12A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94F58-4CE2-6058-7E1A-633525AE4F37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BE785-BDE5-E89B-8CCD-548C71AEB603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1621B9-055E-D929-9A56-2CAF5D695B23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데이터 수집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시각화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–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크롤링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정제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정규화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4121E0-DD28-65FF-C329-A04197B51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0" y="1775971"/>
            <a:ext cx="1753073" cy="4838384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D9518F1D-E0F3-CE9B-713E-9D8A834F380C}"/>
              </a:ext>
            </a:extLst>
          </p:cNvPr>
          <p:cNvSpPr/>
          <p:nvPr/>
        </p:nvSpPr>
        <p:spPr>
          <a:xfrm>
            <a:off x="227348" y="2051702"/>
            <a:ext cx="1666694" cy="35375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987047C-9916-CB3F-408A-2FA7F351738F}"/>
              </a:ext>
            </a:extLst>
          </p:cNvPr>
          <p:cNvSpPr txBox="1"/>
          <p:nvPr/>
        </p:nvSpPr>
        <p:spPr>
          <a:xfrm>
            <a:off x="5329715" y="3107872"/>
            <a:ext cx="3006863" cy="2435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크롤링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데이터 선정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제목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설명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이미지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url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 이동 </a:t>
            </a: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url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셀레니움을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이용하여 데이터 수집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제목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설명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전처리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05A3293-5B7C-9CF8-D0C6-F9616B9F3AB4}"/>
              </a:ext>
            </a:extLst>
          </p:cNvPr>
          <p:cNvCxnSpPr/>
          <p:nvPr/>
        </p:nvCxnSpPr>
        <p:spPr>
          <a:xfrm>
            <a:off x="5123892" y="4041068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3E1DF29-D659-413B-3DBA-FCCD28191CAB}"/>
              </a:ext>
            </a:extLst>
          </p:cNvPr>
          <p:cNvCxnSpPr>
            <a:cxnSpLocks/>
          </p:cNvCxnSpPr>
          <p:nvPr/>
        </p:nvCxnSpPr>
        <p:spPr>
          <a:xfrm>
            <a:off x="263352" y="2204864"/>
            <a:ext cx="314543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5ED21A2-8351-623C-2291-67D246003D24}"/>
              </a:ext>
            </a:extLst>
          </p:cNvPr>
          <p:cNvCxnSpPr>
            <a:cxnSpLocks/>
          </p:cNvCxnSpPr>
          <p:nvPr/>
        </p:nvCxnSpPr>
        <p:spPr>
          <a:xfrm>
            <a:off x="335360" y="2348880"/>
            <a:ext cx="468052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6F4FB45B-8627-3A38-A4AF-51BB07A090CD}"/>
              </a:ext>
            </a:extLst>
          </p:cNvPr>
          <p:cNvCxnSpPr>
            <a:cxnSpLocks/>
          </p:cNvCxnSpPr>
          <p:nvPr/>
        </p:nvCxnSpPr>
        <p:spPr>
          <a:xfrm>
            <a:off x="335360" y="2924944"/>
            <a:ext cx="206531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3FC57582-E1C9-FBEF-2134-BE9A1D2A1B57}"/>
              </a:ext>
            </a:extLst>
          </p:cNvPr>
          <p:cNvCxnSpPr>
            <a:cxnSpLocks/>
          </p:cNvCxnSpPr>
          <p:nvPr/>
        </p:nvCxnSpPr>
        <p:spPr>
          <a:xfrm>
            <a:off x="299356" y="3392996"/>
            <a:ext cx="684076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CC38C0F4-012F-76B6-2D42-B49923706F3D}"/>
              </a:ext>
            </a:extLst>
          </p:cNvPr>
          <p:cNvCxnSpPr>
            <a:cxnSpLocks/>
          </p:cNvCxnSpPr>
          <p:nvPr/>
        </p:nvCxnSpPr>
        <p:spPr>
          <a:xfrm>
            <a:off x="299356" y="4257092"/>
            <a:ext cx="684076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448C446-DE95-5549-4F20-D4ABE0A0CEAE}"/>
              </a:ext>
            </a:extLst>
          </p:cNvPr>
          <p:cNvSpPr txBox="1"/>
          <p:nvPr/>
        </p:nvSpPr>
        <p:spPr>
          <a:xfrm>
            <a:off x="8757172" y="2838567"/>
            <a:ext cx="3260658" cy="2973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전처리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데이터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형태소 분석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</a:t>
            </a: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Okt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정규표현식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(Regex)</a:t>
            </a: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1-gram, 2-gram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단어 생성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TF-IDF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기반 중요도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TOP 5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 키워드 추출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추출된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 키워드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임베딩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벡터화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데이터 결합 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삽입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38B744-501D-1B7A-57D5-0775612EE6BD}"/>
              </a:ext>
            </a:extLst>
          </p:cNvPr>
          <p:cNvSpPr txBox="1"/>
          <p:nvPr/>
        </p:nvSpPr>
        <p:spPr>
          <a:xfrm>
            <a:off x="1908140" y="3575714"/>
            <a:ext cx="326065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크롤링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사이트 선정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defRPr/>
            </a:pP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ad_category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= 1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강의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인프런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defRPr/>
            </a:pP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ad_category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= 2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교보문고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defRPr/>
            </a:pP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ad_category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= 3 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쇼핑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en-US" altLang="ko-KR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coupang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6B70C6B9-088C-7D6C-C3DF-DED2FB64B2E9}"/>
              </a:ext>
            </a:extLst>
          </p:cNvPr>
          <p:cNvCxnSpPr/>
          <p:nvPr/>
        </p:nvCxnSpPr>
        <p:spPr>
          <a:xfrm>
            <a:off x="8234876" y="4041068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411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5754B-DB3E-C27C-CF84-C5125CDBD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B47ABDB8-51B6-5FCF-3CBE-0F2068C31C73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3FCC03D-B24E-1E4C-1D27-3332ECC2D5AD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1306472-9561-6E20-7FE4-AB5D30F0E27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BB1A32-CFB1-0E36-526C-FAF68D9FC33F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47F1AE-512B-EA06-2C8D-B61A2C985E29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F2BE45AB-A0B5-98A3-D531-262CD1FC0EC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6F1258C8-7BA6-D6B3-6D3D-900A2F32627E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0FAD92-7213-CEF0-8C37-4BC89547630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9B56D5-5E1F-8C6D-A673-0CA317D278C2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03F09B-2D64-1658-E8A9-C106C4415DCC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CAA76F2-CEF5-76DD-3561-83797ED3A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56" y="1916832"/>
            <a:ext cx="2801453" cy="45496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4924141-49F7-74F6-25A7-5FCBDE91A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809" y="1916832"/>
            <a:ext cx="3025627" cy="45496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CC74068-EECD-CB24-D7A8-B39C4E9078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2104" y="2028878"/>
            <a:ext cx="4648849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987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27281-B0D7-614A-0665-E1E67690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82F9D582-6070-0CAF-9D12-EED231BA18F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2DE4B38-5F94-65F4-16D1-B19A3EED0D8E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EAE6212-28AE-D982-DF64-BB3D196B3114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B30B257-47F3-8070-1D86-C22B25AD6213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50458F6-FD5D-8CAF-72BA-559DAFDA31F8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C8035DC9-B0B4-C68D-BA89-F0F134A152D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1DBF2059-6797-0304-0ADD-3EB806D5DE0D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C00E53-10DE-4490-41B0-16B84C34A03C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82052-33D8-D069-6B90-1222A401995D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F3478F-8530-CFDC-812B-A063A1FA3C4B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DD1436-5373-F45A-9838-4B824CC02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504" y="1916832"/>
            <a:ext cx="8856984" cy="25910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AD6F2C-57B1-CC4B-EE6C-791618EB9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504" y="4365104"/>
            <a:ext cx="8856984" cy="2259072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03779F2F-4C26-A2B9-418E-98769E9DAD7D}"/>
              </a:ext>
            </a:extLst>
          </p:cNvPr>
          <p:cNvSpPr/>
          <p:nvPr/>
        </p:nvSpPr>
        <p:spPr>
          <a:xfrm>
            <a:off x="7068108" y="1988840"/>
            <a:ext cx="1332148" cy="4354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64A80B-87AA-E543-D43A-188B8414EF2D}"/>
              </a:ext>
            </a:extLst>
          </p:cNvPr>
          <p:cNvSpPr/>
          <p:nvPr/>
        </p:nvSpPr>
        <p:spPr>
          <a:xfrm>
            <a:off x="7104112" y="4437112"/>
            <a:ext cx="1332148" cy="4354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39F9D1E-0DEC-67E6-9DAF-02BCCA1A054D}"/>
              </a:ext>
            </a:extLst>
          </p:cNvPr>
          <p:cNvSpPr/>
          <p:nvPr/>
        </p:nvSpPr>
        <p:spPr>
          <a:xfrm>
            <a:off x="8724292" y="2642996"/>
            <a:ext cx="1692188" cy="103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790FB67-663D-AB05-EDE3-F79BCB6DDCE7}"/>
              </a:ext>
            </a:extLst>
          </p:cNvPr>
          <p:cNvSpPr/>
          <p:nvPr/>
        </p:nvSpPr>
        <p:spPr>
          <a:xfrm>
            <a:off x="8760296" y="5067442"/>
            <a:ext cx="1692188" cy="103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2473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FB6F6-B5B4-D707-29BC-CE3EA6C1C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A6D0EFB4-C4F8-C8C3-A162-76FC8E7658E5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0233B67-922C-D958-7C6F-67F8961BFAD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338A895-6A4F-9F08-E3ED-008EC6C2A26B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2CF50B-CFF2-6BC4-A0D7-E459CCF99E4E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F4680F0-95A1-9AAB-0FAF-DBE7E0C4A747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F038BC5B-9AF8-CD6E-4E49-799BC6ED5D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E2E4F7C3-656B-EC5F-C097-A1C4D4B78FF6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97D44A-3FCE-A2A0-AFCB-A524633B755E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A2EC17-4489-AB27-23D4-FAEBAEDB55B5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1F2C53D-18CF-DC3C-C51C-97A642F43368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6A5C71-0416-18C8-2E27-AF102EEDFFD4}"/>
              </a:ext>
            </a:extLst>
          </p:cNvPr>
          <p:cNvSpPr txBox="1"/>
          <p:nvPr/>
        </p:nvSpPr>
        <p:spPr>
          <a:xfrm>
            <a:off x="0" y="1863091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비슷한 로직으로 구현 된 지능형 기능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1B68FB6-70B2-8C18-6AF6-3A2AA34F1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492" y="2492896"/>
            <a:ext cx="8588552" cy="36133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ABA885-2E35-12B0-4DFF-A7C8C02765F9}"/>
              </a:ext>
            </a:extLst>
          </p:cNvPr>
          <p:cNvSpPr txBox="1"/>
          <p:nvPr/>
        </p:nvSpPr>
        <p:spPr>
          <a:xfrm>
            <a:off x="4979876" y="2666436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내 관심 그래프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00614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5D4F6-CDEE-C65F-48E8-61476ED40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D1DEF3BC-E239-3B70-21B6-063A678F4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1945" y="2308932"/>
            <a:ext cx="8724292" cy="37502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C4C5B516-C3D4-0E33-DFE2-0EF8AC1FC559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03FDBD1-DF8F-B84A-F349-3806E4CD9E7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0B2D9B3-149C-DD39-91A8-A9D9CF4C8B9E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04E49C-CE3B-299E-E455-FF34AFF04E3F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E03F2F2-3D14-4105-4478-15FBE9C79717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9D6CDE2-D561-F73F-2818-908AF8E4180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3C74F52-6551-0490-10D3-8AA6F7A8D4F3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9C6231-02FE-7308-1350-2D58D9DB8D97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5D000-DBCA-59B1-5B90-C580A111055F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4331859-B102-475D-1BF9-597EEC37F04B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63258-4F0D-3F58-5246-E3802B6BAAD2}"/>
              </a:ext>
            </a:extLst>
          </p:cNvPr>
          <p:cNvSpPr txBox="1"/>
          <p:nvPr/>
        </p:nvSpPr>
        <p:spPr>
          <a:xfrm>
            <a:off x="0" y="1863091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비슷한 로직으로 구현 된 지능형 기능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31EFA6-9C78-49C2-9587-AD93B3BA6805}"/>
              </a:ext>
            </a:extLst>
          </p:cNvPr>
          <p:cNvSpPr txBox="1"/>
          <p:nvPr/>
        </p:nvSpPr>
        <p:spPr>
          <a:xfrm>
            <a:off x="4353762" y="2501429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활동 로그 </a:t>
            </a:r>
            <a:r>
              <a:rPr lang="ko-KR" altLang="en-US" sz="1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기반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AI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게시글 추천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2616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B9CB9-2E04-4D20-CAF9-D5661234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B59C9804-34EA-FE78-C9EB-4B10C54C3E45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5C30C81-F8D3-2525-4C7A-5D2B35014D0B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24D81D3-F7DB-15EA-B654-5B2D13419244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86F837-A6F5-C577-E8B4-52C6FDB3170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F5D91EE-FCE5-47E5-6962-505BDE2B56AB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C8D90D6D-A61A-02BA-B285-F25B02E5A6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84921B23-1690-9E9C-5FCC-8EC78C2205E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FA38CC-C4B3-0B65-6D8B-2B77C7EC3EE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E6EA1-7C37-ECD9-A491-A120C150C463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3A3F91-8CDE-6D9F-4587-DBBA10B6EC14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3D360B-BF36-4164-4D09-2988A349B259}"/>
              </a:ext>
            </a:extLst>
          </p:cNvPr>
          <p:cNvSpPr txBox="1"/>
          <p:nvPr/>
        </p:nvSpPr>
        <p:spPr>
          <a:xfrm>
            <a:off x="-24680" y="1863091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비슷한 로직으로 구현 된 지능형 기능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7B406E-24DF-1A68-2740-1C71B4BEC937}"/>
              </a:ext>
            </a:extLst>
          </p:cNvPr>
          <p:cNvSpPr txBox="1"/>
          <p:nvPr/>
        </p:nvSpPr>
        <p:spPr>
          <a:xfrm>
            <a:off x="4151784" y="2677227"/>
            <a:ext cx="3260658" cy="3297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조건에 해당하는 데이터 조회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제목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내용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태그 분석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상위 키워드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 추출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키워드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3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 씩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슬라이싱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스케줄러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시간 마다 키워드 로테이션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프론트 출력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0E2F4ED-C8B6-8F94-8CAE-AA368E993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52" y="2308312"/>
            <a:ext cx="3379711" cy="4356571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80AAAEB-EC6C-181C-B748-D4AFCBFE4763}"/>
              </a:ext>
            </a:extLst>
          </p:cNvPr>
          <p:cNvCxnSpPr/>
          <p:nvPr/>
        </p:nvCxnSpPr>
        <p:spPr>
          <a:xfrm>
            <a:off x="7536160" y="4221088"/>
            <a:ext cx="360040" cy="0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BA05F55A-CD46-ECCC-2FD0-85E7E1B64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264" y="1974426"/>
            <a:ext cx="2690490" cy="4493324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F16A42-7F0B-5BAB-060D-ECACCCDA0542}"/>
              </a:ext>
            </a:extLst>
          </p:cNvPr>
          <p:cNvSpPr/>
          <p:nvPr/>
        </p:nvSpPr>
        <p:spPr>
          <a:xfrm>
            <a:off x="8544272" y="2308313"/>
            <a:ext cx="2520280" cy="3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053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07949EA-21FB-B090-0B38-7E00FB7EC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976" y="2022280"/>
            <a:ext cx="3073783" cy="3839514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제미나이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API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를 이용한 실시간 태그추천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7876150" y="5966623"/>
            <a:ext cx="3260658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사용자 작성중인 내용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실시간 분석하여 태그 추천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3D4445E-B1B3-FDD5-D637-7C6AB084C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02" y="2347606"/>
            <a:ext cx="4665116" cy="4249746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53886F-4BC4-9770-3E38-34547FB68A43}"/>
              </a:ext>
            </a:extLst>
          </p:cNvPr>
          <p:cNvSpPr/>
          <p:nvPr/>
        </p:nvSpPr>
        <p:spPr>
          <a:xfrm>
            <a:off x="7875976" y="5341561"/>
            <a:ext cx="2648516" cy="5261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86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욕설 필터링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49A8EE86-7362-4BEF-BA87-5FCDB365B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60" y="2301508"/>
            <a:ext cx="3838524" cy="405898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53886F-4BC4-9770-3E38-34547FB68A43}"/>
              </a:ext>
            </a:extLst>
          </p:cNvPr>
          <p:cNvSpPr/>
          <p:nvPr/>
        </p:nvSpPr>
        <p:spPr>
          <a:xfrm>
            <a:off x="479376" y="3519454"/>
            <a:ext cx="1872208" cy="2335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A3AD259-06DF-4E33-B27A-7803F3EA9AB4}"/>
              </a:ext>
            </a:extLst>
          </p:cNvPr>
          <p:cNvSpPr/>
          <p:nvPr/>
        </p:nvSpPr>
        <p:spPr>
          <a:xfrm>
            <a:off x="551384" y="5481228"/>
            <a:ext cx="1872208" cy="2335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8D65D87-7EE1-4F7A-B152-7AFBA9DE8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056" y="2292823"/>
            <a:ext cx="3619500" cy="36004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1BDD05-2C7B-4D14-8BDF-5CEF18197EDE}"/>
              </a:ext>
            </a:extLst>
          </p:cNvPr>
          <p:cNvSpPr txBox="1"/>
          <p:nvPr/>
        </p:nvSpPr>
        <p:spPr>
          <a:xfrm>
            <a:off x="4429667" y="5893273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차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내 욕설단어 필터링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(3,731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9084332" y="5893273"/>
            <a:ext cx="2196244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2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차 </a:t>
            </a:r>
            <a:r>
              <a:rPr lang="ko-KR" altLang="en-US" sz="1400" b="1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자음욕설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필터링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A3212C4-A786-4705-AD43-7F014447E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315" y="2866085"/>
            <a:ext cx="3781425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2521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5436604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모델링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서비스 구축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욕설 필터링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0942187-CDE1-4862-AE7D-89BE65DBE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52" y="2262576"/>
            <a:ext cx="6411255" cy="402137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25925A-162A-4864-9672-0BD62B2300AB}"/>
              </a:ext>
            </a:extLst>
          </p:cNvPr>
          <p:cNvSpPr/>
          <p:nvPr/>
        </p:nvSpPr>
        <p:spPr>
          <a:xfrm flipV="1">
            <a:off x="263352" y="5735418"/>
            <a:ext cx="392744" cy="264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93D5EC-BF54-4234-A789-53519BB42FF5}"/>
              </a:ext>
            </a:extLst>
          </p:cNvPr>
          <p:cNvSpPr/>
          <p:nvPr/>
        </p:nvSpPr>
        <p:spPr>
          <a:xfrm>
            <a:off x="3534568" y="2597624"/>
            <a:ext cx="2790032" cy="831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1BDD05-2C7B-4D14-8BDF-5CEF18197EDE}"/>
              </a:ext>
            </a:extLst>
          </p:cNvPr>
          <p:cNvSpPr txBox="1"/>
          <p:nvPr/>
        </p:nvSpPr>
        <p:spPr>
          <a:xfrm>
            <a:off x="1838650" y="6265305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답변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댓글 욕설 포함 작성금지 알림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C09363-ED04-4434-80A3-DAB3539A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2243" y="1893379"/>
            <a:ext cx="4248471" cy="42719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8760296" y="6202740"/>
            <a:ext cx="1677751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욕설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‘ * ’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표기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53886F-4BC4-9770-3E38-34547FB68A43}"/>
              </a:ext>
            </a:extLst>
          </p:cNvPr>
          <p:cNvSpPr/>
          <p:nvPr/>
        </p:nvSpPr>
        <p:spPr>
          <a:xfrm>
            <a:off x="7644172" y="5481228"/>
            <a:ext cx="1368152" cy="2335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2532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2628292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최적화 및 오류수정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– UI/UX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개선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UI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93D5EC-BF54-4234-A789-53519BB42FF5}"/>
              </a:ext>
            </a:extLst>
          </p:cNvPr>
          <p:cNvSpPr/>
          <p:nvPr/>
        </p:nvSpPr>
        <p:spPr>
          <a:xfrm>
            <a:off x="5447928" y="2805131"/>
            <a:ext cx="2790032" cy="831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1BDD05-2C7B-4D14-8BDF-5CEF18197EDE}"/>
              </a:ext>
            </a:extLst>
          </p:cNvPr>
          <p:cNvSpPr txBox="1"/>
          <p:nvPr/>
        </p:nvSpPr>
        <p:spPr>
          <a:xfrm>
            <a:off x="1550618" y="3273997"/>
            <a:ext cx="872974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↓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9061577" y="4940522"/>
            <a:ext cx="2988332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 이동 시 덜컥거림 개선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고정높이로 로딩 중 높이변화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X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441CDC47-C661-4BB8-AC43-CC9E7B5EAD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9273" r="20400"/>
          <a:stretch/>
        </p:blipFill>
        <p:spPr>
          <a:xfrm>
            <a:off x="344644" y="2591782"/>
            <a:ext cx="3371976" cy="4102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D3E9B45-A61A-4531-B4A1-F82B87FC0A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644" y="3824906"/>
            <a:ext cx="3369290" cy="75622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81BA843-67EA-48DB-A0A5-892A1FB30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9780" y="2251659"/>
            <a:ext cx="2771775" cy="25336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B71BAF9-B3B2-478E-8CFB-A70E63FABE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3160" y="2455535"/>
            <a:ext cx="5090080" cy="228191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32BD5CF-44D2-4F82-84E1-36E6D4F2102B}"/>
              </a:ext>
            </a:extLst>
          </p:cNvPr>
          <p:cNvSpPr txBox="1"/>
          <p:nvPr/>
        </p:nvSpPr>
        <p:spPr>
          <a:xfrm>
            <a:off x="1088157" y="4938510"/>
            <a:ext cx="1882264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필터 버튼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Select Box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 간소화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17074D-8C9E-4175-A77D-9793E3A652B6}"/>
              </a:ext>
            </a:extLst>
          </p:cNvPr>
          <p:cNvSpPr txBox="1"/>
          <p:nvPr/>
        </p:nvSpPr>
        <p:spPr>
          <a:xfrm>
            <a:off x="5599324" y="4949515"/>
            <a:ext cx="1677751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리스트형 목록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카드형 목록 변경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53886F-4BC4-9770-3E38-34547FB68A43}"/>
              </a:ext>
            </a:extLst>
          </p:cNvPr>
          <p:cNvSpPr/>
          <p:nvPr/>
        </p:nvSpPr>
        <p:spPr>
          <a:xfrm>
            <a:off x="9169856" y="2221244"/>
            <a:ext cx="2771774" cy="19278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5F813952-3903-4F4A-90FE-FFC32CBDB1F9}"/>
              </a:ext>
            </a:extLst>
          </p:cNvPr>
          <p:cNvCxnSpPr>
            <a:cxnSpLocks/>
          </p:cNvCxnSpPr>
          <p:nvPr/>
        </p:nvCxnSpPr>
        <p:spPr>
          <a:xfrm>
            <a:off x="3827748" y="2087039"/>
            <a:ext cx="0" cy="412408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889B20C-C597-4B4E-825D-B660AC268F8A}"/>
              </a:ext>
            </a:extLst>
          </p:cNvPr>
          <p:cNvCxnSpPr>
            <a:cxnSpLocks/>
          </p:cNvCxnSpPr>
          <p:nvPr/>
        </p:nvCxnSpPr>
        <p:spPr>
          <a:xfrm>
            <a:off x="8995822" y="2087039"/>
            <a:ext cx="0" cy="412408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8630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2628292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최적화 및 오류수정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– UI/UX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개선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UX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1BDD05-2C7B-4D14-8BDF-5CEF18197EDE}"/>
              </a:ext>
            </a:extLst>
          </p:cNvPr>
          <p:cNvSpPr txBox="1"/>
          <p:nvPr/>
        </p:nvSpPr>
        <p:spPr>
          <a:xfrm>
            <a:off x="1621355" y="5697252"/>
            <a:ext cx="3260658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가입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/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로그인 시 포인트 지급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8345061" y="5481228"/>
            <a:ext cx="1677751" cy="1034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DM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페이지 내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유저검색 후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메시지 보내기 기능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49E405B5-BFC6-433A-A950-3D8723E9C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248" y="1863091"/>
            <a:ext cx="3915379" cy="355467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6C3529F-9291-4E44-AF1D-8378104F6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458" y="3028573"/>
            <a:ext cx="6081142" cy="1325142"/>
          </a:xfrm>
          <a:prstGeom prst="rect">
            <a:avLst/>
          </a:prstGeom>
        </p:spPr>
      </p:pic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7057FD1-4814-4BA5-90F0-EF062E389AEC}"/>
              </a:ext>
            </a:extLst>
          </p:cNvPr>
          <p:cNvCxnSpPr>
            <a:cxnSpLocks/>
          </p:cNvCxnSpPr>
          <p:nvPr/>
        </p:nvCxnSpPr>
        <p:spPr>
          <a:xfrm>
            <a:off x="6456040" y="1916832"/>
            <a:ext cx="0" cy="412408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25925A-162A-4864-9672-0BD62B2300AB}"/>
              </a:ext>
            </a:extLst>
          </p:cNvPr>
          <p:cNvSpPr/>
          <p:nvPr/>
        </p:nvSpPr>
        <p:spPr>
          <a:xfrm flipV="1">
            <a:off x="1819220" y="3490459"/>
            <a:ext cx="2080536" cy="786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537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5AD38EE-BD6B-48C4-ADE8-46754C16AB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862" y="1929134"/>
            <a:ext cx="8145782" cy="4678575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2628292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최적화 및 오류수정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– UI/UX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개선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863091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UX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93D5EC-BF54-4234-A789-53519BB42FF5}"/>
              </a:ext>
            </a:extLst>
          </p:cNvPr>
          <p:cNvSpPr/>
          <p:nvPr/>
        </p:nvSpPr>
        <p:spPr>
          <a:xfrm>
            <a:off x="3678584" y="1892624"/>
            <a:ext cx="1841352" cy="831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770236" y="3738859"/>
            <a:ext cx="2334603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관리자도 유저다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!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관리자 기능 페이지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CFA3464-5B78-4DF2-8F7A-C6F0F77A6C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170" y="2613167"/>
            <a:ext cx="3459409" cy="446579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25925A-162A-4864-9672-0BD62B2300AB}"/>
              </a:ext>
            </a:extLst>
          </p:cNvPr>
          <p:cNvSpPr/>
          <p:nvPr/>
        </p:nvSpPr>
        <p:spPr>
          <a:xfrm flipV="1">
            <a:off x="2882864" y="2691329"/>
            <a:ext cx="296812" cy="264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1069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769D-DCC0-AE8D-02EF-3CB3DF35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66E1BB40-0E54-8981-8D53-8C7BBAC1BECB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0A71847-76C2-A64C-6BE7-640DB214C18C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343CB46-3935-BD0C-7148-11D6D1689283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682136D-9EF5-CCCF-74ED-DE88475F1985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84487F6-4D5D-3050-D51E-54574EC354CE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60A5633F-26E5-A2C2-91D9-D6C8287469A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83251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D0E3AE3D-234A-78EC-5E55-F44E0C1434BB}"/>
              </a:ext>
            </a:extLst>
          </p:cNvPr>
          <p:cNvSpPr/>
          <p:nvPr/>
        </p:nvSpPr>
        <p:spPr>
          <a:xfrm>
            <a:off x="541891" y="1428838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7DC6F2-87FA-1EA8-FD4F-D1C877B5B870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9F15F-B216-B058-A217-3485B9E54450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9713F8E-0643-032C-8B5B-4CEC671B8A11}"/>
              </a:ext>
            </a:extLst>
          </p:cNvPr>
          <p:cNvSpPr txBox="1"/>
          <p:nvPr/>
        </p:nvSpPr>
        <p:spPr>
          <a:xfrm>
            <a:off x="623392" y="1304764"/>
            <a:ext cx="2628292" cy="340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20000"/>
              </a:lnSpc>
              <a:spcBef>
                <a:spcPts val="600"/>
              </a:spcBef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최적화 및 오류수정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– UI/UX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개선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90F6C1-5790-9E67-B294-87E495F3B1EE}"/>
              </a:ext>
            </a:extLst>
          </p:cNvPr>
          <p:cNvSpPr txBox="1"/>
          <p:nvPr/>
        </p:nvSpPr>
        <p:spPr>
          <a:xfrm>
            <a:off x="119336" y="1672280"/>
            <a:ext cx="1217339" cy="388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UX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 개선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93D5EC-BF54-4234-A789-53519BB42FF5}"/>
              </a:ext>
            </a:extLst>
          </p:cNvPr>
          <p:cNvSpPr/>
          <p:nvPr/>
        </p:nvSpPr>
        <p:spPr>
          <a:xfrm>
            <a:off x="7932204" y="3323171"/>
            <a:ext cx="1841352" cy="8313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1A7807-D4BB-47B8-B49D-63F883005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94" y="2132856"/>
            <a:ext cx="4813710" cy="87978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731E44B-94E2-4064-BC21-6AA67CEBD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371" y="3087792"/>
            <a:ext cx="4801533" cy="94616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A1792F2-9B8A-44CC-901D-D830354373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3809" y="1952836"/>
            <a:ext cx="5438775" cy="38195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E384F2-0C38-F747-E594-B5DA47DB50EA}"/>
              </a:ext>
            </a:extLst>
          </p:cNvPr>
          <p:cNvSpPr txBox="1"/>
          <p:nvPr/>
        </p:nvSpPr>
        <p:spPr>
          <a:xfrm>
            <a:off x="1493290" y="5670465"/>
            <a:ext cx="2622490" cy="1034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0.5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초 뒤 호출 →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1.5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초 뒤 호출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이전 요청과 같으면 호출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X</a:t>
            </a:r>
          </a:p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제목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||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타이틀 최소길이 제한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25925A-162A-4864-9672-0BD62B2300AB}"/>
              </a:ext>
            </a:extLst>
          </p:cNvPr>
          <p:cNvSpPr/>
          <p:nvPr/>
        </p:nvSpPr>
        <p:spPr>
          <a:xfrm flipV="1">
            <a:off x="7176120" y="5409219"/>
            <a:ext cx="864096" cy="2520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B1DF8D-33E9-4AB6-A829-891AA73C5EC0}"/>
              </a:ext>
            </a:extLst>
          </p:cNvPr>
          <p:cNvSpPr txBox="1"/>
          <p:nvPr/>
        </p:nvSpPr>
        <p:spPr>
          <a:xfrm>
            <a:off x="7541635" y="5831230"/>
            <a:ext cx="2622490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공지사항 갱신 시간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3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초 →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초 </a:t>
            </a:r>
            <a:endParaRPr lang="en-US" altLang="ko-KR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D2A00C-D136-44C2-86E1-AD99E0146D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371" y="4109111"/>
            <a:ext cx="4801533" cy="154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788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훈련생 발표 영상이 아닌 세부 기능 소개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화면 구동 및 기능 동작 여부 시연영상으로 제작한다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617" y="3135340"/>
            <a:ext cx="2550875" cy="54189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0850"/>
            <a:ext cx="12192000" cy="2335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891" y="1539006"/>
            <a:ext cx="101147" cy="113869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891" y="2408110"/>
            <a:ext cx="5363941" cy="1748490"/>
            <a:chOff x="541891" y="2408110"/>
            <a:chExt cx="5363941" cy="1748490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3439B1C8-3528-F911-5457-BF5ED692D7CF}"/>
                </a:ext>
              </a:extLst>
            </p:cNvPr>
            <p:cNvSpPr/>
            <p:nvPr/>
          </p:nvSpPr>
          <p:spPr>
            <a:xfrm>
              <a:off x="541891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3A7B748-FE49-2B92-56C1-450D79C9FD92}"/>
                </a:ext>
              </a:extLst>
            </p:cNvPr>
            <p:cNvSpPr/>
            <p:nvPr/>
          </p:nvSpPr>
          <p:spPr>
            <a:xfrm rot="5400000">
              <a:off x="3176968" y="235037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7F9C6E5-5CF0-4ADD-53E6-0361985783EC}"/>
                </a:ext>
              </a:extLst>
            </p:cNvPr>
            <p:cNvSpPr txBox="1"/>
            <p:nvPr/>
          </p:nvSpPr>
          <p:spPr>
            <a:xfrm>
              <a:off x="912406" y="2525203"/>
              <a:ext cx="4622911" cy="5262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사전 기획의 관점에서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결과물에 대한</a:t>
              </a:r>
              <a:b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완성도 평가</a:t>
              </a:r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(10</a:t>
              </a:r>
              <a:r>
                <a: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점 만점</a:t>
              </a:r>
              <a:r>
                <a:rPr lang="en-US" altLang="ko-KR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891" y="4490910"/>
            <a:ext cx="5363941" cy="1748490"/>
            <a:chOff x="541891" y="4490910"/>
            <a:chExt cx="5363941" cy="174849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BDEF34A-4B05-D616-FE0F-53CE76D5D25D}"/>
                </a:ext>
              </a:extLst>
            </p:cNvPr>
            <p:cNvSpPr/>
            <p:nvPr/>
          </p:nvSpPr>
          <p:spPr>
            <a:xfrm>
              <a:off x="541891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8D88F86-1654-5597-84CB-A04A190FB71F}"/>
                </a:ext>
              </a:extLst>
            </p:cNvPr>
            <p:cNvSpPr/>
            <p:nvPr/>
          </p:nvSpPr>
          <p:spPr>
            <a:xfrm rot="5400000">
              <a:off x="3176968" y="2317832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304AE5-695E-DC8E-35C4-7970ECA23F32}"/>
                </a:ext>
              </a:extLst>
            </p:cNvPr>
            <p:cNvSpPr txBox="1"/>
            <p:nvPr/>
          </p:nvSpPr>
          <p:spPr>
            <a:xfrm>
              <a:off x="912406" y="4686581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결과물의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추후 개선점이나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보완할 점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등 내용 정리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215" y="4490910"/>
            <a:ext cx="5363941" cy="1748490"/>
            <a:chOff x="6396215" y="4490910"/>
            <a:chExt cx="5363941" cy="17484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215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292" y="2317832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148" y="4617132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느낀 점이나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215" y="2408110"/>
            <a:ext cx="5363941" cy="1748490"/>
            <a:chOff x="6396215" y="2408110"/>
            <a:chExt cx="5363941" cy="174849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E025A8C-5815-C97A-B3AE-8F5FE071600F}"/>
                </a:ext>
              </a:extLst>
            </p:cNvPr>
            <p:cNvSpPr/>
            <p:nvPr/>
          </p:nvSpPr>
          <p:spPr>
            <a:xfrm>
              <a:off x="6396215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041EC4-B376-7174-8938-DC069344B1D2}"/>
                </a:ext>
              </a:extLst>
            </p:cNvPr>
            <p:cNvSpPr/>
            <p:nvPr/>
          </p:nvSpPr>
          <p:spPr>
            <a:xfrm rot="5400000">
              <a:off x="9031292" y="235037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719653C-5E68-CF3A-C029-6588E11E539A}"/>
                </a:ext>
              </a:extLst>
            </p:cNvPr>
            <p:cNvSpPr txBox="1"/>
            <p:nvPr/>
          </p:nvSpPr>
          <p:spPr>
            <a:xfrm>
              <a:off x="6747148" y="2900049"/>
              <a:ext cx="4622911" cy="397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개인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잘한 부분과 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ABFA61-909C-6DFC-2F3E-B5C44522F4AE}"/>
                </a:ext>
              </a:extLst>
            </p:cNvPr>
            <p:cNvSpPr txBox="1"/>
            <p:nvPr/>
          </p:nvSpPr>
          <p:spPr>
            <a:xfrm>
              <a:off x="7774257" y="3392996"/>
              <a:ext cx="28350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200" dirty="0"/>
                <a:t>유저 활동로그로 </a:t>
              </a:r>
              <a:r>
                <a:rPr lang="en-US" altLang="ko-KR" sz="1200" dirty="0"/>
                <a:t>AI</a:t>
              </a:r>
              <a:r>
                <a:rPr lang="ko-KR" altLang="en-US" sz="1200" dirty="0"/>
                <a:t>기능 구현 잘함</a:t>
              </a:r>
              <a:endParaRPr lang="en-US" altLang="ko-KR" sz="1200" dirty="0"/>
            </a:p>
            <a:p>
              <a:r>
                <a:rPr lang="ko-KR" altLang="en-US" sz="1200" dirty="0"/>
                <a:t>특히 광고추천 경우 정밀함 우수</a:t>
              </a:r>
              <a:endParaRPr lang="en-US" altLang="ko-KR" sz="1200" dirty="0"/>
            </a:p>
            <a:p>
              <a:r>
                <a:rPr lang="ko-KR" altLang="en-US" sz="1200" dirty="0"/>
                <a:t>정밀한 키워드 추출은 아쉬움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147" y="4327165"/>
            <a:ext cx="138413" cy="138413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9" name="_x278651016" descr="EMB0000378c3f3d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3CD80F9-9907-9F6F-4CFB-134956F10831}"/>
              </a:ext>
            </a:extLst>
          </p:cNvPr>
          <p:cNvSpPr txBox="1"/>
          <p:nvPr/>
        </p:nvSpPr>
        <p:spPr>
          <a:xfrm>
            <a:off x="2003687" y="3245699"/>
            <a:ext cx="28350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9</a:t>
            </a:r>
            <a:r>
              <a:rPr lang="ko-KR" altLang="en-US" sz="1200" dirty="0"/>
              <a:t>점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기획했던 기능은 대부분 구현완료</a:t>
            </a:r>
            <a:endParaRPr lang="en-US" altLang="ko-KR" sz="1200" dirty="0"/>
          </a:p>
          <a:p>
            <a:r>
              <a:rPr lang="ko-KR" altLang="en-US" sz="1200" dirty="0"/>
              <a:t>작은 버그 및 기능오류 수정하면</a:t>
            </a:r>
            <a:endParaRPr lang="en-US" altLang="ko-KR" sz="1200" dirty="0"/>
          </a:p>
          <a:p>
            <a:r>
              <a:rPr lang="en-US" altLang="ko-KR" sz="1200" dirty="0"/>
              <a:t>10</a:t>
            </a:r>
            <a:r>
              <a:rPr lang="ko-KR" altLang="en-US" sz="1200" dirty="0"/>
              <a:t>점</a:t>
            </a:r>
            <a:r>
              <a:rPr lang="en-US" altLang="ko-KR" sz="12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3EF316-325A-E884-38FE-39BFCD33170A}"/>
              </a:ext>
            </a:extLst>
          </p:cNvPr>
          <p:cNvSpPr txBox="1"/>
          <p:nvPr/>
        </p:nvSpPr>
        <p:spPr>
          <a:xfrm>
            <a:off x="1968246" y="5501380"/>
            <a:ext cx="2835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성능 최적화</a:t>
            </a:r>
            <a:r>
              <a:rPr lang="en-US" altLang="ko-KR" sz="1200" dirty="0"/>
              <a:t>, </a:t>
            </a:r>
            <a:r>
              <a:rPr lang="ko-KR" altLang="en-US" sz="1200" dirty="0"/>
              <a:t>더 많은 데이터 삽입 후 테스트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0F3F23-C243-C899-3370-997F15968283}"/>
              </a:ext>
            </a:extLst>
          </p:cNvPr>
          <p:cNvSpPr txBox="1"/>
          <p:nvPr/>
        </p:nvSpPr>
        <p:spPr>
          <a:xfrm>
            <a:off x="7794070" y="5360412"/>
            <a:ext cx="29549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완성 후 </a:t>
            </a:r>
            <a:r>
              <a:rPr lang="en-US" altLang="ko-KR" sz="1200" dirty="0"/>
              <a:t>UX </a:t>
            </a:r>
            <a:r>
              <a:rPr lang="ko-KR" altLang="en-US" sz="1200" dirty="0"/>
              <a:t>및 성능최적화가</a:t>
            </a:r>
            <a:endParaRPr lang="en-US" altLang="ko-KR" sz="1200" dirty="0"/>
          </a:p>
          <a:p>
            <a:r>
              <a:rPr lang="ko-KR" altLang="en-US" sz="1200" dirty="0"/>
              <a:t>생각보다 복잡하고 어려웠음</a:t>
            </a:r>
            <a:endParaRPr lang="en-US" altLang="ko-KR" sz="1200" dirty="0"/>
          </a:p>
          <a:p>
            <a:r>
              <a:rPr lang="ko-KR" altLang="en-US" sz="1200" dirty="0"/>
              <a:t>기존 기능과 충돌이 일어나거나 로직을</a:t>
            </a:r>
            <a:endParaRPr lang="en-US" altLang="ko-KR" sz="1200" dirty="0"/>
          </a:p>
          <a:p>
            <a:r>
              <a:rPr lang="ko-KR" altLang="en-US" sz="1200" dirty="0"/>
              <a:t>새로 짜야 하는 경우가 생겨서 곤란했음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1251</Words>
  <Application>Microsoft Office PowerPoint</Application>
  <PresentationFormat>와이드스크린</PresentationFormat>
  <Paragraphs>379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맑은 고딕</vt:lpstr>
      <vt:lpstr>세방고딕 Bold</vt:lpstr>
      <vt:lpstr>세방고딕 OTF Regular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42</cp:revision>
  <dcterms:created xsi:type="dcterms:W3CDTF">2023-12-20T03:00:25Z</dcterms:created>
  <dcterms:modified xsi:type="dcterms:W3CDTF">2025-12-18T05:38:45Z</dcterms:modified>
</cp:coreProperties>
</file>